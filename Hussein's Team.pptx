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1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61" r:id="rId12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8BEEF6"/>
    <a:srgbClr val="F837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4"/>
  </p:normalViewPr>
  <p:slideViewPr>
    <p:cSldViewPr snapToGrid="0" snapToObjects="1">
      <p:cViewPr varScale="1">
        <p:scale>
          <a:sx n="59" d="100"/>
          <a:sy n="59" d="100"/>
        </p:scale>
        <p:origin x="9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183C9-87EE-4E4B-94B1-120BD1EA4F5A}" type="datetimeFigureOut">
              <a:rPr lang="en-US" smtClean="0"/>
              <a:t>14/05/2026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24A1B-B14F-4D73-911E-E727926E2F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4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7F84-FA64-0E89-EAEF-E0C1742A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37DAD-9608-D9E0-A0FB-80884776B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40231-C541-AFEF-A6F8-FFCE93CD33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748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0ADFA-0F43-2546-BD29-C814C5E05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B4608E-1CD6-1142-A642-C4F34759D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8FC4B-4375-954A-8A59-FA2B0EE6E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C512A-0A4E-0245-9168-1B068B4D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B8AD4-C35F-E647-8060-9EBBF5DC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35005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C00F-26B7-A248-9DB1-B99657A6D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8B46D-FFCB-DE46-8E4D-59C917E3E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45D56-8638-9643-B9B8-A970EBAFE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5D971-E476-A245-A5D4-2F64C968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96B3A-08B0-CC4E-898F-3BC975C7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173692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5CF9D-152A-494F-B9F2-6F7DC324D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EAF5D-BB38-6E43-9DC8-5E8EEC347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AB192-79A4-F848-86D3-1B80AD87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DE4D5-18F7-1A47-AE7D-674B0509B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214CB-C98A-A940-84A1-2DE4C263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233079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7E691-C2B2-A94B-B3C9-253CAD897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E49A8-B665-824E-BE2C-381EB8B040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DF65-E9A6-CF4D-960D-FE9D5D6E5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54F3F-48B7-1043-8E53-E91A000B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1E9DA8-A955-4942-B502-2DF9507D9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110C5-EAAC-B44A-9632-CC50043F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187935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F159-C521-7F42-87C1-DB744FA8E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A538F-966C-E44D-8ACD-7D6FB4E51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E578C-528E-2844-8848-80857BA4A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DDCE02-A5EF-2C48-AE0D-4BCC9650AA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EB4CA3-E65C-7D4C-A09F-88B7C4095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C0A56D-2DAB-7A44-855B-93DB2EC7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7E3C2-D82C-A74F-A0CA-C14E60313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F90E6-DE5B-7A4C-B10C-9BE6732CE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6235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F6461-F2CF-D644-B77B-EB6BDD8B0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1A88D6-AF95-F64E-B59A-2EF564387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CE331-9894-9141-B696-CAD8E8A8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5235F6-4845-7C4E-A45C-D0A929F40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84726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9EBE0F-1880-C940-9A27-299B2EB5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489D0-2B27-DA4A-907E-F2CBACAA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DACC6-EB13-0A4C-84B1-502ED127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78860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E202-227A-3F45-9DD3-805F10765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2E264-2106-1243-B2C9-9CC20FDA1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B692B-2B1B-6B44-90DB-76BF4AD5D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E619E-1DE1-E54B-8129-821BDE464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C24F06-9CBF-694F-8CA6-8CDCC1E5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36BA7-E4F1-D144-B18F-480E6300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682571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FEAD-FB40-CC4B-A0C5-FDA2F1BAD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A0C3C-BF73-1B41-A7ED-18C77DB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91370-4D4D-CD42-8B42-AC8376CCE3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B3858-2E0C-7C4C-805B-E2E489C54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9188E-743C-234A-8EBF-B2F483AB5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405FC-7221-534C-9106-D1A91F0BB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26319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041B-D3D8-9D4E-9AE9-F7C9B7CA9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716FF-05AB-1245-A266-FCB976925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55A8C5-28DC-D743-AABC-22B8AFB17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DC271-2395-C249-BB9F-DED2B018A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8D537-6AAF-F948-B037-E06F6619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7518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3B78C-2FE5-5F41-9A23-46B0EBDA12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F0F01-2CA0-BB4A-8C24-EF4FB452D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2EE6B-A6D9-FA47-9886-91CD7D6B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A3854-F13C-A348-B16F-864F21E7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7D920-0C36-D443-83B9-91F25EE1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12092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89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403D6-E9AF-BF4C-A148-66A28E6B8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28DF4-368C-D041-B9B2-4BA0859C0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73C5B-28E7-F242-A628-C82DA6A48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F2754-8568-534C-857E-C53A898691D1}" type="datetimeFigureOut">
              <a:rPr lang="en-EG" smtClean="0"/>
              <a:t>05/14/2026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E1B4C-5026-7A48-B730-C2406F977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6FB3C-06AC-694B-BE9D-EDA3198A0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56E2E4-9772-A844-BEBA-B1EFF6D14272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46462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92D0-8BBE-A24B-86D5-94423F272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096" y="1057491"/>
            <a:ext cx="9069696" cy="618482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dirty="0">
                <a:latin typeface="Impact" panose="020B0806030902050204" pitchFamily="34" charset="0"/>
              </a:rPr>
              <a:t>Finance Function &amp; Business Performance</a:t>
            </a:r>
            <a:endParaRPr lang="en-EG" sz="4000" dirty="0">
              <a:latin typeface="Impact" panose="020B080603090205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28D9C-DB32-3346-93A6-9FBCAC4722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096" y="1972824"/>
            <a:ext cx="3180960" cy="1099559"/>
          </a:xfrm>
        </p:spPr>
        <p:txBody>
          <a:bodyPr>
            <a:noAutofit/>
          </a:bodyPr>
          <a:lstStyle/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rgbClr val="F83702"/>
                </a:solidFill>
              </a:rPr>
              <a:t>Team Structure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rgbClr val="F83702"/>
                </a:solidFill>
              </a:rPr>
              <a:t>Business Achievements</a:t>
            </a:r>
          </a:p>
          <a:p>
            <a:pPr marL="285750" indent="-285750" algn="l">
              <a:buFontTx/>
              <a:buChar char="-"/>
            </a:pPr>
            <a:r>
              <a:rPr lang="en-US" sz="1800" dirty="0">
                <a:solidFill>
                  <a:srgbClr val="F83702"/>
                </a:solidFill>
              </a:rPr>
              <a:t>Reports Timing</a:t>
            </a:r>
            <a:endParaRPr lang="en-EG" sz="1800" dirty="0">
              <a:solidFill>
                <a:srgbClr val="F837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488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19399-A0CE-13A0-7D64-2E11D4CF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436873-A435-AFF9-8CA9-4C8FF2B24D20}"/>
              </a:ext>
            </a:extLst>
          </p:cNvPr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 sz="240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999F64E-3A03-E984-7EA9-4F2EDB6EF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97536"/>
            <a:ext cx="390144" cy="39014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6E9F6E5-EF7F-4460-BAA0-B43C298E612C}"/>
              </a:ext>
            </a:extLst>
          </p:cNvPr>
          <p:cNvSpPr/>
          <p:nvPr/>
        </p:nvSpPr>
        <p:spPr>
          <a:xfrm>
            <a:off x="914400" y="73152"/>
            <a:ext cx="6832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Team Structure 2026   {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</a:rPr>
              <a:t>18 Members}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36F9F8C-3A9D-69FE-9824-C14D6171A488}"/>
              </a:ext>
            </a:extLst>
          </p:cNvPr>
          <p:cNvSpPr/>
          <p:nvPr/>
        </p:nvSpPr>
        <p:spPr>
          <a:xfrm>
            <a:off x="3169920" y="684447"/>
            <a:ext cx="5852160" cy="1193118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 sz="2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700DD2C-F1A8-B4CD-3D45-31EB6B40F5EF}"/>
              </a:ext>
            </a:extLst>
          </p:cNvPr>
          <p:cNvSpPr/>
          <p:nvPr/>
        </p:nvSpPr>
        <p:spPr>
          <a:xfrm>
            <a:off x="3169920" y="685123"/>
            <a:ext cx="5852160" cy="36576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404D285-A6A7-D5B7-4D73-46CD3F73C5B1}"/>
              </a:ext>
            </a:extLst>
          </p:cNvPr>
          <p:cNvSpPr/>
          <p:nvPr/>
        </p:nvSpPr>
        <p:spPr>
          <a:xfrm>
            <a:off x="3169920" y="737615"/>
            <a:ext cx="5852160" cy="479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Hussein Abo Elazaim</a:t>
            </a:r>
            <a:endParaRPr lang="en-US" sz="1867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9928E76-18CE-2F1D-9922-25BFCEDF5AAC}"/>
              </a:ext>
            </a:extLst>
          </p:cNvPr>
          <p:cNvSpPr/>
          <p:nvPr/>
        </p:nvSpPr>
        <p:spPr>
          <a:xfrm>
            <a:off x="3169920" y="968247"/>
            <a:ext cx="5852160" cy="520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Senior Business Partner</a:t>
            </a:r>
            <a:endParaRPr lang="en-US" sz="14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2B18AB8-6563-03D9-7487-E883FD5BB2F0}"/>
              </a:ext>
            </a:extLst>
          </p:cNvPr>
          <p:cNvSpPr/>
          <p:nvPr/>
        </p:nvSpPr>
        <p:spPr>
          <a:xfrm flipH="1">
            <a:off x="6096000" y="1891452"/>
            <a:ext cx="23032" cy="972992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37D23F4-ABD1-9745-7B2E-D65690F4D3A0}"/>
              </a:ext>
            </a:extLst>
          </p:cNvPr>
          <p:cNvSpPr/>
          <p:nvPr/>
        </p:nvSpPr>
        <p:spPr>
          <a:xfrm>
            <a:off x="1763776" y="2864443"/>
            <a:ext cx="8668512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3064B03-195C-B247-0D8A-D620D5E6C1B8}"/>
              </a:ext>
            </a:extLst>
          </p:cNvPr>
          <p:cNvSpPr/>
          <p:nvPr/>
        </p:nvSpPr>
        <p:spPr>
          <a:xfrm>
            <a:off x="1761744" y="2864443"/>
            <a:ext cx="0" cy="12192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19388D20-78B5-7ECD-D6E5-EF499EA82322}"/>
              </a:ext>
            </a:extLst>
          </p:cNvPr>
          <p:cNvSpPr/>
          <p:nvPr/>
        </p:nvSpPr>
        <p:spPr>
          <a:xfrm>
            <a:off x="420624" y="2994829"/>
            <a:ext cx="2682240" cy="1057452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02849D5-09AF-5CAF-742D-D8E1107FBAF9}"/>
              </a:ext>
            </a:extLst>
          </p:cNvPr>
          <p:cNvSpPr/>
          <p:nvPr/>
        </p:nvSpPr>
        <p:spPr>
          <a:xfrm>
            <a:off x="420624" y="2994829"/>
            <a:ext cx="2682240" cy="2438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6F1D17B-C2CA-B1BD-5680-46FF29FF978A}"/>
              </a:ext>
            </a:extLst>
          </p:cNvPr>
          <p:cNvSpPr/>
          <p:nvPr/>
        </p:nvSpPr>
        <p:spPr>
          <a:xfrm>
            <a:off x="481584" y="3056805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 Allah</a:t>
            </a:r>
            <a:endParaRPr lang="en-US" sz="1333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842B6D56-2AFA-B28E-E63A-E34B8C40112A}"/>
              </a:ext>
            </a:extLst>
          </p:cNvPr>
          <p:cNvSpPr/>
          <p:nvPr/>
        </p:nvSpPr>
        <p:spPr>
          <a:xfrm>
            <a:off x="493776" y="4171832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8510A3A-E8A0-BF3C-2F82-B9C037D204DB}"/>
              </a:ext>
            </a:extLst>
          </p:cNvPr>
          <p:cNvSpPr/>
          <p:nvPr/>
        </p:nvSpPr>
        <p:spPr>
          <a:xfrm>
            <a:off x="542544" y="4162349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Tolba</a:t>
            </a:r>
            <a:endParaRPr lang="en-US" sz="1067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0C850D1-C85A-ABAE-E3DD-0931A0395357}"/>
              </a:ext>
            </a:extLst>
          </p:cNvPr>
          <p:cNvSpPr/>
          <p:nvPr/>
        </p:nvSpPr>
        <p:spPr>
          <a:xfrm>
            <a:off x="542544" y="4387563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&amp; B. Partner Financial Analyst Lead</a:t>
            </a:r>
            <a:endParaRPr lang="en-US" sz="933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3A23C5FA-23CA-D728-965A-364B56CABC58}"/>
              </a:ext>
            </a:extLst>
          </p:cNvPr>
          <p:cNvSpPr/>
          <p:nvPr/>
        </p:nvSpPr>
        <p:spPr>
          <a:xfrm>
            <a:off x="1761744" y="4471552"/>
            <a:ext cx="0" cy="48768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437A7D62-CE89-D526-A898-D4CA78929D4E}"/>
              </a:ext>
            </a:extLst>
          </p:cNvPr>
          <p:cNvSpPr/>
          <p:nvPr/>
        </p:nvSpPr>
        <p:spPr>
          <a:xfrm>
            <a:off x="493776" y="4647320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92A5F1F-E035-EB34-4997-B304C9A3D873}"/>
              </a:ext>
            </a:extLst>
          </p:cNvPr>
          <p:cNvSpPr/>
          <p:nvPr/>
        </p:nvSpPr>
        <p:spPr>
          <a:xfrm>
            <a:off x="542544" y="4680171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Sayed Kadry</a:t>
            </a:r>
            <a:endParaRPr lang="en-US" sz="1067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6F5C76DD-0D8C-0AFD-705E-FC2FE2CCBE19}"/>
              </a:ext>
            </a:extLst>
          </p:cNvPr>
          <p:cNvSpPr/>
          <p:nvPr/>
        </p:nvSpPr>
        <p:spPr>
          <a:xfrm>
            <a:off x="542544" y="4863051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Deelz Financial Analyst Lead</a:t>
            </a:r>
            <a:endParaRPr lang="en-US" sz="933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7C2566F6-1D0A-6945-3E82-3213156ED0F8}"/>
              </a:ext>
            </a:extLst>
          </p:cNvPr>
          <p:cNvSpPr/>
          <p:nvPr/>
        </p:nvSpPr>
        <p:spPr>
          <a:xfrm>
            <a:off x="1761744" y="4947040"/>
            <a:ext cx="0" cy="48768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9404C7BC-16E4-2102-2126-7392392CEDEE}"/>
              </a:ext>
            </a:extLst>
          </p:cNvPr>
          <p:cNvSpPr/>
          <p:nvPr/>
        </p:nvSpPr>
        <p:spPr>
          <a:xfrm>
            <a:off x="493776" y="5122808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44BB8AF-316E-3F91-1A7E-A44B5630ADE9}"/>
              </a:ext>
            </a:extLst>
          </p:cNvPr>
          <p:cNvSpPr/>
          <p:nvPr/>
        </p:nvSpPr>
        <p:spPr>
          <a:xfrm>
            <a:off x="542544" y="5147192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Ashraf</a:t>
            </a:r>
            <a:endParaRPr lang="en-US" sz="1067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895CED73-63FC-AA99-BE41-618802E9443B}"/>
              </a:ext>
            </a:extLst>
          </p:cNvPr>
          <p:cNvSpPr/>
          <p:nvPr/>
        </p:nvSpPr>
        <p:spPr>
          <a:xfrm>
            <a:off x="542544" y="5338539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Fin. Analyst Lead</a:t>
            </a:r>
            <a:endParaRPr lang="en-US" sz="933" dirty="0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17A4EEF0-6F2B-4824-70A1-6D1FEA967ED6}"/>
              </a:ext>
            </a:extLst>
          </p:cNvPr>
          <p:cNvSpPr/>
          <p:nvPr/>
        </p:nvSpPr>
        <p:spPr>
          <a:xfrm>
            <a:off x="1761744" y="5422528"/>
            <a:ext cx="0" cy="48768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D1BE83F4-95E2-AFDD-3F0F-A2FAD567FB4D}"/>
              </a:ext>
            </a:extLst>
          </p:cNvPr>
          <p:cNvSpPr/>
          <p:nvPr/>
        </p:nvSpPr>
        <p:spPr>
          <a:xfrm>
            <a:off x="493776" y="5606763"/>
            <a:ext cx="2535936" cy="426720"/>
          </a:xfrm>
          <a:prstGeom prst="rect">
            <a:avLst/>
          </a:prstGeom>
          <a:solidFill>
            <a:srgbClr val="8B7D2E"/>
          </a:solidFill>
          <a:ln/>
          <a:effectLst>
            <a:outerShdw blurRad="25400" dist="635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C8567987-6FF1-D4E0-9822-F4675C808665}"/>
              </a:ext>
            </a:extLst>
          </p:cNvPr>
          <p:cNvSpPr/>
          <p:nvPr/>
        </p:nvSpPr>
        <p:spPr>
          <a:xfrm>
            <a:off x="542544" y="5622680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67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8309CAF3-4BB3-9057-9E0E-DACB818CF035}"/>
              </a:ext>
            </a:extLst>
          </p:cNvPr>
          <p:cNvSpPr/>
          <p:nvPr/>
        </p:nvSpPr>
        <p:spPr>
          <a:xfrm>
            <a:off x="542544" y="5814027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D0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Care &amp; A.S. Fin. Analyst</a:t>
            </a:r>
            <a:endParaRPr lang="en-US" sz="933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EFD73FE4-0637-EDEE-375F-E31A7696B708}"/>
              </a:ext>
            </a:extLst>
          </p:cNvPr>
          <p:cNvSpPr/>
          <p:nvPr/>
        </p:nvSpPr>
        <p:spPr>
          <a:xfrm>
            <a:off x="4651248" y="2864443"/>
            <a:ext cx="0" cy="12192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87EFFB37-36E6-EA38-F7B2-9361FEC44F1C}"/>
              </a:ext>
            </a:extLst>
          </p:cNvPr>
          <p:cNvSpPr/>
          <p:nvPr/>
        </p:nvSpPr>
        <p:spPr>
          <a:xfrm>
            <a:off x="3310128" y="2986363"/>
            <a:ext cx="2682240" cy="900651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318F0792-E0BB-92D3-F0DF-434713624459}"/>
              </a:ext>
            </a:extLst>
          </p:cNvPr>
          <p:cNvSpPr/>
          <p:nvPr/>
        </p:nvSpPr>
        <p:spPr>
          <a:xfrm>
            <a:off x="3310128" y="2986363"/>
            <a:ext cx="2682240" cy="2438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1A3D95F1-C86F-521A-70BB-51138BB8B5C9}"/>
              </a:ext>
            </a:extLst>
          </p:cNvPr>
          <p:cNvSpPr/>
          <p:nvPr/>
        </p:nvSpPr>
        <p:spPr>
          <a:xfrm>
            <a:off x="3371088" y="3048339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Mazhar</a:t>
            </a:r>
            <a:endParaRPr lang="en-US" sz="1333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5369ABD-73DB-CFEF-618D-F56BD2FC6C50}"/>
              </a:ext>
            </a:extLst>
          </p:cNvPr>
          <p:cNvSpPr/>
          <p:nvPr/>
        </p:nvSpPr>
        <p:spPr>
          <a:xfrm>
            <a:off x="4651248" y="4141013"/>
            <a:ext cx="0" cy="73152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867FBD1D-95A6-5B31-8381-D6D53288F4F5}"/>
              </a:ext>
            </a:extLst>
          </p:cNvPr>
          <p:cNvSpPr/>
          <p:nvPr/>
        </p:nvSpPr>
        <p:spPr>
          <a:xfrm>
            <a:off x="3383280" y="4027899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681D4562-8F31-FD0D-964C-7147716CCCDB}"/>
              </a:ext>
            </a:extLst>
          </p:cNvPr>
          <p:cNvSpPr/>
          <p:nvPr/>
        </p:nvSpPr>
        <p:spPr>
          <a:xfrm>
            <a:off x="3432048" y="4052283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Abdelkader Mohamed</a:t>
            </a:r>
            <a:endParaRPr lang="en-US" sz="1067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0420A3EC-F199-5A94-0C37-86B752E6543D}"/>
              </a:ext>
            </a:extLst>
          </p:cNvPr>
          <p:cNvSpPr/>
          <p:nvPr/>
        </p:nvSpPr>
        <p:spPr>
          <a:xfrm>
            <a:off x="3432048" y="4235163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Accounts Section Head</a:t>
            </a:r>
            <a:endParaRPr lang="en-US" sz="933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3010071C-8F81-3B5F-156C-6D0A22118C09}"/>
              </a:ext>
            </a:extLst>
          </p:cNvPr>
          <p:cNvSpPr/>
          <p:nvPr/>
        </p:nvSpPr>
        <p:spPr>
          <a:xfrm>
            <a:off x="4651248" y="4640885"/>
            <a:ext cx="0" cy="48768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AA6C2A89-496B-5027-12D5-100E5258CDC2}"/>
              </a:ext>
            </a:extLst>
          </p:cNvPr>
          <p:cNvSpPr/>
          <p:nvPr/>
        </p:nvSpPr>
        <p:spPr>
          <a:xfrm>
            <a:off x="3383280" y="4503387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DD1E6C0B-21EC-4F34-F900-8D017FF20C92}"/>
              </a:ext>
            </a:extLst>
          </p:cNvPr>
          <p:cNvSpPr/>
          <p:nvPr/>
        </p:nvSpPr>
        <p:spPr>
          <a:xfrm>
            <a:off x="3432048" y="4527771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Motaz Bayomi</a:t>
            </a:r>
            <a:endParaRPr lang="en-US" sz="1067" dirty="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2AA2572C-B001-C128-ED00-FE7D50B56A53}"/>
              </a:ext>
            </a:extLst>
          </p:cNvPr>
          <p:cNvSpPr/>
          <p:nvPr/>
        </p:nvSpPr>
        <p:spPr>
          <a:xfrm>
            <a:off x="3432048" y="4710651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Accounts Section Head</a:t>
            </a:r>
            <a:endParaRPr lang="en-US" sz="933" dirty="0"/>
          </a:p>
        </p:txBody>
      </p:sp>
      <p:sp>
        <p:nvSpPr>
          <p:cNvPr id="46" name="Shape 43">
            <a:extLst>
              <a:ext uri="{FF2B5EF4-FFF2-40B4-BE49-F238E27FC236}">
                <a16:creationId xmlns:a16="http://schemas.microsoft.com/office/drawing/2014/main" id="{E42A4291-ACCB-1F68-464C-A63D4453A254}"/>
              </a:ext>
            </a:extLst>
          </p:cNvPr>
          <p:cNvSpPr/>
          <p:nvPr/>
        </p:nvSpPr>
        <p:spPr>
          <a:xfrm>
            <a:off x="4651248" y="5116373"/>
            <a:ext cx="0" cy="48768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Shape 44">
            <a:extLst>
              <a:ext uri="{FF2B5EF4-FFF2-40B4-BE49-F238E27FC236}">
                <a16:creationId xmlns:a16="http://schemas.microsoft.com/office/drawing/2014/main" id="{94F812D4-B006-AAED-C3A6-FAA941A6AB03}"/>
              </a:ext>
            </a:extLst>
          </p:cNvPr>
          <p:cNvSpPr/>
          <p:nvPr/>
        </p:nvSpPr>
        <p:spPr>
          <a:xfrm>
            <a:off x="3383280" y="4978875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8C1D9DCE-88DC-5FDA-977C-AF412604E2A1}"/>
              </a:ext>
            </a:extLst>
          </p:cNvPr>
          <p:cNvSpPr/>
          <p:nvPr/>
        </p:nvSpPr>
        <p:spPr>
          <a:xfrm>
            <a:off x="3432048" y="5003259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Gaber</a:t>
            </a:r>
            <a:endParaRPr lang="en-US" sz="1067" dirty="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FDB0A503-A2E2-2CC9-32BF-645458426DD5}"/>
              </a:ext>
            </a:extLst>
          </p:cNvPr>
          <p:cNvSpPr/>
          <p:nvPr/>
        </p:nvSpPr>
        <p:spPr>
          <a:xfrm>
            <a:off x="3432048" y="5186139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Accountant</a:t>
            </a:r>
            <a:endParaRPr lang="en-US" sz="933" dirty="0"/>
          </a:p>
        </p:txBody>
      </p:sp>
      <p:sp>
        <p:nvSpPr>
          <p:cNvPr id="50" name="Shape 47">
            <a:extLst>
              <a:ext uri="{FF2B5EF4-FFF2-40B4-BE49-F238E27FC236}">
                <a16:creationId xmlns:a16="http://schemas.microsoft.com/office/drawing/2014/main" id="{52F29C03-9AE0-A2AA-4A58-FECA026DFADD}"/>
              </a:ext>
            </a:extLst>
          </p:cNvPr>
          <p:cNvSpPr/>
          <p:nvPr/>
        </p:nvSpPr>
        <p:spPr>
          <a:xfrm>
            <a:off x="4651248" y="5591861"/>
            <a:ext cx="0" cy="48768"/>
          </a:xfrm>
          <a:prstGeom prst="line">
            <a:avLst/>
          </a:prstGeom>
          <a:noFill/>
          <a:ln w="762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Shape 48">
            <a:extLst>
              <a:ext uri="{FF2B5EF4-FFF2-40B4-BE49-F238E27FC236}">
                <a16:creationId xmlns:a16="http://schemas.microsoft.com/office/drawing/2014/main" id="{27D2C21A-FD15-DC50-EB40-A86D5CEF7FCB}"/>
              </a:ext>
            </a:extLst>
          </p:cNvPr>
          <p:cNvSpPr/>
          <p:nvPr/>
        </p:nvSpPr>
        <p:spPr>
          <a:xfrm>
            <a:off x="3383280" y="5454363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62CECD19-5C86-E505-F1BC-3DA0AB29C932}"/>
              </a:ext>
            </a:extLst>
          </p:cNvPr>
          <p:cNvSpPr/>
          <p:nvPr/>
        </p:nvSpPr>
        <p:spPr>
          <a:xfrm>
            <a:off x="3432048" y="5478747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Samer</a:t>
            </a:r>
            <a:endParaRPr lang="en-US" sz="1067" dirty="0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49430FFC-FF89-7FBD-62E5-353D6E3ACA3C}"/>
              </a:ext>
            </a:extLst>
          </p:cNvPr>
          <p:cNvSpPr/>
          <p:nvPr/>
        </p:nvSpPr>
        <p:spPr>
          <a:xfrm>
            <a:off x="3432048" y="5661627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Accountant</a:t>
            </a:r>
            <a:endParaRPr lang="en-US" sz="933" dirty="0"/>
          </a:p>
        </p:txBody>
      </p:sp>
      <p:sp>
        <p:nvSpPr>
          <p:cNvPr id="54" name="Shape 51">
            <a:extLst>
              <a:ext uri="{FF2B5EF4-FFF2-40B4-BE49-F238E27FC236}">
                <a16:creationId xmlns:a16="http://schemas.microsoft.com/office/drawing/2014/main" id="{4A5D813F-5750-2CBC-9405-330EB992259C}"/>
              </a:ext>
            </a:extLst>
          </p:cNvPr>
          <p:cNvSpPr/>
          <p:nvPr/>
        </p:nvSpPr>
        <p:spPr>
          <a:xfrm>
            <a:off x="7540752" y="2864443"/>
            <a:ext cx="0" cy="12192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88B2FF79-5198-FE31-865B-B1E605F49A10}"/>
              </a:ext>
            </a:extLst>
          </p:cNvPr>
          <p:cNvSpPr/>
          <p:nvPr/>
        </p:nvSpPr>
        <p:spPr>
          <a:xfrm>
            <a:off x="6138671" y="2977896"/>
            <a:ext cx="2804156" cy="900651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56" name="Shape 53">
            <a:extLst>
              <a:ext uri="{FF2B5EF4-FFF2-40B4-BE49-F238E27FC236}">
                <a16:creationId xmlns:a16="http://schemas.microsoft.com/office/drawing/2014/main" id="{FC1A31F7-3942-C7D9-D082-2A90DA3B6AAD}"/>
              </a:ext>
            </a:extLst>
          </p:cNvPr>
          <p:cNvSpPr/>
          <p:nvPr/>
        </p:nvSpPr>
        <p:spPr>
          <a:xfrm>
            <a:off x="6199632" y="2986363"/>
            <a:ext cx="2682240" cy="2438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E25E1D29-9E6C-A482-4B36-85F423CE3A98}"/>
              </a:ext>
            </a:extLst>
          </p:cNvPr>
          <p:cNvSpPr/>
          <p:nvPr/>
        </p:nvSpPr>
        <p:spPr>
          <a:xfrm>
            <a:off x="6260592" y="3039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Tawab</a:t>
            </a:r>
            <a:endParaRPr lang="en-US" sz="1333" dirty="0"/>
          </a:p>
        </p:txBody>
      </p:sp>
      <p:sp>
        <p:nvSpPr>
          <p:cNvPr id="60" name="Shape 57">
            <a:extLst>
              <a:ext uri="{FF2B5EF4-FFF2-40B4-BE49-F238E27FC236}">
                <a16:creationId xmlns:a16="http://schemas.microsoft.com/office/drawing/2014/main" id="{E088C9AE-FBDC-A974-F82B-34245896AD0A}"/>
              </a:ext>
            </a:extLst>
          </p:cNvPr>
          <p:cNvSpPr/>
          <p:nvPr/>
        </p:nvSpPr>
        <p:spPr>
          <a:xfrm>
            <a:off x="6272784" y="4027899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5936BD7C-A168-B792-5BCF-44B3680DD2C5}"/>
              </a:ext>
            </a:extLst>
          </p:cNvPr>
          <p:cNvSpPr/>
          <p:nvPr/>
        </p:nvSpPr>
        <p:spPr>
          <a:xfrm>
            <a:off x="6321552" y="4052283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M. Ibrahim</a:t>
            </a:r>
            <a:endParaRPr lang="en-US" sz="1067" dirty="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3F61C55C-43B9-B842-FAD3-F3FB1B070A2F}"/>
              </a:ext>
            </a:extLst>
          </p:cNvPr>
          <p:cNvSpPr/>
          <p:nvPr/>
        </p:nvSpPr>
        <p:spPr>
          <a:xfrm>
            <a:off x="6321552" y="4235163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Accounts Section Head</a:t>
            </a:r>
            <a:endParaRPr lang="en-US" sz="933" dirty="0"/>
          </a:p>
        </p:txBody>
      </p:sp>
      <p:sp>
        <p:nvSpPr>
          <p:cNvPr id="64" name="Shape 61">
            <a:extLst>
              <a:ext uri="{FF2B5EF4-FFF2-40B4-BE49-F238E27FC236}">
                <a16:creationId xmlns:a16="http://schemas.microsoft.com/office/drawing/2014/main" id="{24674046-A05E-130D-A454-6BC4EF3EB58D}"/>
              </a:ext>
            </a:extLst>
          </p:cNvPr>
          <p:cNvSpPr/>
          <p:nvPr/>
        </p:nvSpPr>
        <p:spPr>
          <a:xfrm>
            <a:off x="6272784" y="4503387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3A40D78A-B4D1-F84F-7A98-5E23C086321E}"/>
              </a:ext>
            </a:extLst>
          </p:cNvPr>
          <p:cNvSpPr/>
          <p:nvPr/>
        </p:nvSpPr>
        <p:spPr>
          <a:xfrm>
            <a:off x="6321552" y="4527771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Mahmoud Farid</a:t>
            </a:r>
            <a:endParaRPr lang="en-US" sz="1067" dirty="0"/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391AFF9E-5556-3983-7636-E580F0C182AE}"/>
              </a:ext>
            </a:extLst>
          </p:cNvPr>
          <p:cNvSpPr/>
          <p:nvPr/>
        </p:nvSpPr>
        <p:spPr>
          <a:xfrm>
            <a:off x="6321552" y="4710651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Accountant –B2B</a:t>
            </a:r>
            <a:endParaRPr lang="en-US" sz="933" dirty="0"/>
          </a:p>
        </p:txBody>
      </p:sp>
      <p:sp>
        <p:nvSpPr>
          <p:cNvPr id="68" name="Shape 65">
            <a:extLst>
              <a:ext uri="{FF2B5EF4-FFF2-40B4-BE49-F238E27FC236}">
                <a16:creationId xmlns:a16="http://schemas.microsoft.com/office/drawing/2014/main" id="{36FE16EF-3240-0C31-F23D-BCC632112958}"/>
              </a:ext>
            </a:extLst>
          </p:cNvPr>
          <p:cNvSpPr/>
          <p:nvPr/>
        </p:nvSpPr>
        <p:spPr>
          <a:xfrm>
            <a:off x="6272784" y="4978875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8E343F48-0673-3195-C45F-7D4549306F8E}"/>
              </a:ext>
            </a:extLst>
          </p:cNvPr>
          <p:cNvSpPr/>
          <p:nvPr/>
        </p:nvSpPr>
        <p:spPr>
          <a:xfrm>
            <a:off x="6321552" y="5003259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Emad Bayomi</a:t>
            </a:r>
            <a:endParaRPr lang="en-US" sz="933" dirty="0"/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17AAE2E3-0F92-4548-DEDB-430C2EC72576}"/>
              </a:ext>
            </a:extLst>
          </p:cNvPr>
          <p:cNvSpPr/>
          <p:nvPr/>
        </p:nvSpPr>
        <p:spPr>
          <a:xfrm>
            <a:off x="6321552" y="5186139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Accountant –B2B</a:t>
            </a:r>
            <a:endParaRPr lang="en-US" sz="933" dirty="0"/>
          </a:p>
        </p:txBody>
      </p:sp>
      <p:sp>
        <p:nvSpPr>
          <p:cNvPr id="72" name="Shape 69">
            <a:extLst>
              <a:ext uri="{FF2B5EF4-FFF2-40B4-BE49-F238E27FC236}">
                <a16:creationId xmlns:a16="http://schemas.microsoft.com/office/drawing/2014/main" id="{18A66F22-34FE-E5BA-A08A-3E19F10A915E}"/>
              </a:ext>
            </a:extLst>
          </p:cNvPr>
          <p:cNvSpPr/>
          <p:nvPr/>
        </p:nvSpPr>
        <p:spPr>
          <a:xfrm>
            <a:off x="6272784" y="5454363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73" name="Text 70">
            <a:extLst>
              <a:ext uri="{FF2B5EF4-FFF2-40B4-BE49-F238E27FC236}">
                <a16:creationId xmlns:a16="http://schemas.microsoft.com/office/drawing/2014/main" id="{4330AC8A-9F81-ED1F-74F4-55AC22B3C9D2}"/>
              </a:ext>
            </a:extLst>
          </p:cNvPr>
          <p:cNvSpPr/>
          <p:nvPr/>
        </p:nvSpPr>
        <p:spPr>
          <a:xfrm>
            <a:off x="6321552" y="5478747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 Sameeh</a:t>
            </a:r>
            <a:endParaRPr lang="en-US" sz="1067" dirty="0"/>
          </a:p>
        </p:txBody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3D470B1E-C601-1025-47AF-4320378053E5}"/>
              </a:ext>
            </a:extLst>
          </p:cNvPr>
          <p:cNvSpPr/>
          <p:nvPr/>
        </p:nvSpPr>
        <p:spPr>
          <a:xfrm>
            <a:off x="6321552" y="5661627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Accountant –B Partner</a:t>
            </a:r>
            <a:endParaRPr lang="en-US" sz="933" dirty="0"/>
          </a:p>
        </p:txBody>
      </p:sp>
      <p:sp>
        <p:nvSpPr>
          <p:cNvPr id="76" name="Shape 73">
            <a:extLst>
              <a:ext uri="{FF2B5EF4-FFF2-40B4-BE49-F238E27FC236}">
                <a16:creationId xmlns:a16="http://schemas.microsoft.com/office/drawing/2014/main" id="{44F71040-1E07-46A7-77A3-3581E6C669D3}"/>
              </a:ext>
            </a:extLst>
          </p:cNvPr>
          <p:cNvSpPr/>
          <p:nvPr/>
        </p:nvSpPr>
        <p:spPr>
          <a:xfrm>
            <a:off x="6272784" y="5929851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77" name="Text 74">
            <a:extLst>
              <a:ext uri="{FF2B5EF4-FFF2-40B4-BE49-F238E27FC236}">
                <a16:creationId xmlns:a16="http://schemas.microsoft.com/office/drawing/2014/main" id="{CE3A23A8-FDA4-35D6-B0A4-33BC380F49BB}"/>
              </a:ext>
            </a:extLst>
          </p:cNvPr>
          <p:cNvSpPr/>
          <p:nvPr/>
        </p:nvSpPr>
        <p:spPr>
          <a:xfrm>
            <a:off x="6321552" y="5954235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Hassan</a:t>
            </a:r>
            <a:endParaRPr lang="en-US" sz="1067" dirty="0"/>
          </a:p>
        </p:txBody>
      </p:sp>
      <p:sp>
        <p:nvSpPr>
          <p:cNvPr id="78" name="Text 75">
            <a:extLst>
              <a:ext uri="{FF2B5EF4-FFF2-40B4-BE49-F238E27FC236}">
                <a16:creationId xmlns:a16="http://schemas.microsoft.com/office/drawing/2014/main" id="{2E3C609B-3B14-E27E-CF6D-5AFA097766F0}"/>
              </a:ext>
            </a:extLst>
          </p:cNvPr>
          <p:cNvSpPr/>
          <p:nvPr/>
        </p:nvSpPr>
        <p:spPr>
          <a:xfrm>
            <a:off x="6321552" y="6137115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Accountant –B Partner</a:t>
            </a:r>
            <a:endParaRPr lang="en-US" sz="933" dirty="0"/>
          </a:p>
        </p:txBody>
      </p:sp>
      <p:sp>
        <p:nvSpPr>
          <p:cNvPr id="79" name="Shape 76">
            <a:extLst>
              <a:ext uri="{FF2B5EF4-FFF2-40B4-BE49-F238E27FC236}">
                <a16:creationId xmlns:a16="http://schemas.microsoft.com/office/drawing/2014/main" id="{3AD1216A-83C3-511B-5DCA-F5DB2F391092}"/>
              </a:ext>
            </a:extLst>
          </p:cNvPr>
          <p:cNvSpPr/>
          <p:nvPr/>
        </p:nvSpPr>
        <p:spPr>
          <a:xfrm>
            <a:off x="10430256" y="2855976"/>
            <a:ext cx="0" cy="12192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0" name="Shape 77">
            <a:extLst>
              <a:ext uri="{FF2B5EF4-FFF2-40B4-BE49-F238E27FC236}">
                <a16:creationId xmlns:a16="http://schemas.microsoft.com/office/drawing/2014/main" id="{E11CD992-6EAD-25A9-540D-F3931366E03F}"/>
              </a:ext>
            </a:extLst>
          </p:cNvPr>
          <p:cNvSpPr/>
          <p:nvPr/>
        </p:nvSpPr>
        <p:spPr>
          <a:xfrm>
            <a:off x="9089136" y="2969429"/>
            <a:ext cx="2682240" cy="900651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81" name="Shape 78">
            <a:extLst>
              <a:ext uri="{FF2B5EF4-FFF2-40B4-BE49-F238E27FC236}">
                <a16:creationId xmlns:a16="http://schemas.microsoft.com/office/drawing/2014/main" id="{D0269E8E-21E0-52F3-F3B9-026E22A593FF}"/>
              </a:ext>
            </a:extLst>
          </p:cNvPr>
          <p:cNvSpPr/>
          <p:nvPr/>
        </p:nvSpPr>
        <p:spPr>
          <a:xfrm>
            <a:off x="9089136" y="2969429"/>
            <a:ext cx="2682240" cy="24384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2" name="Text 79">
            <a:extLst>
              <a:ext uri="{FF2B5EF4-FFF2-40B4-BE49-F238E27FC236}">
                <a16:creationId xmlns:a16="http://schemas.microsoft.com/office/drawing/2014/main" id="{4E28F4C8-003C-1823-7D21-A331028AF1C5}"/>
              </a:ext>
            </a:extLst>
          </p:cNvPr>
          <p:cNvSpPr/>
          <p:nvPr/>
        </p:nvSpPr>
        <p:spPr>
          <a:xfrm>
            <a:off x="9150096" y="30398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Emad Awad</a:t>
            </a:r>
            <a:endParaRPr lang="en-US" sz="1333" dirty="0"/>
          </a:p>
        </p:txBody>
      </p:sp>
      <p:sp>
        <p:nvSpPr>
          <p:cNvPr id="85" name="Shape 82">
            <a:extLst>
              <a:ext uri="{FF2B5EF4-FFF2-40B4-BE49-F238E27FC236}">
                <a16:creationId xmlns:a16="http://schemas.microsoft.com/office/drawing/2014/main" id="{F6FC16D6-7DEF-7706-547C-0A7AE664FD4C}"/>
              </a:ext>
            </a:extLst>
          </p:cNvPr>
          <p:cNvSpPr/>
          <p:nvPr/>
        </p:nvSpPr>
        <p:spPr>
          <a:xfrm>
            <a:off x="9162288" y="4010965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86" name="Text 83">
            <a:extLst>
              <a:ext uri="{FF2B5EF4-FFF2-40B4-BE49-F238E27FC236}">
                <a16:creationId xmlns:a16="http://schemas.microsoft.com/office/drawing/2014/main" id="{93C5EDCD-CA83-29F6-7468-E46400CB58FA}"/>
              </a:ext>
            </a:extLst>
          </p:cNvPr>
          <p:cNvSpPr/>
          <p:nvPr/>
        </p:nvSpPr>
        <p:spPr>
          <a:xfrm>
            <a:off x="9211056" y="4026883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Dahab</a:t>
            </a:r>
            <a:endParaRPr lang="en-US" sz="1067" dirty="0"/>
          </a:p>
        </p:txBody>
      </p:sp>
      <p:sp>
        <p:nvSpPr>
          <p:cNvPr id="87" name="Text 84">
            <a:extLst>
              <a:ext uri="{FF2B5EF4-FFF2-40B4-BE49-F238E27FC236}">
                <a16:creationId xmlns:a16="http://schemas.microsoft.com/office/drawing/2014/main" id="{B64CD9CD-23BC-E5E5-D761-25097C5E1F44}"/>
              </a:ext>
            </a:extLst>
          </p:cNvPr>
          <p:cNvSpPr/>
          <p:nvPr/>
        </p:nvSpPr>
        <p:spPr>
          <a:xfrm>
            <a:off x="9211056" y="4218229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S. Accountant</a:t>
            </a:r>
            <a:endParaRPr lang="en-US" sz="933" dirty="0"/>
          </a:p>
        </p:txBody>
      </p:sp>
      <p:sp>
        <p:nvSpPr>
          <p:cNvPr id="89" name="Shape 86">
            <a:extLst>
              <a:ext uri="{FF2B5EF4-FFF2-40B4-BE49-F238E27FC236}">
                <a16:creationId xmlns:a16="http://schemas.microsoft.com/office/drawing/2014/main" id="{4D37DB50-DB3C-BBC1-6708-98053E38FC84}"/>
              </a:ext>
            </a:extLst>
          </p:cNvPr>
          <p:cNvSpPr/>
          <p:nvPr/>
        </p:nvSpPr>
        <p:spPr>
          <a:xfrm>
            <a:off x="9162288" y="4486453"/>
            <a:ext cx="2535936" cy="42672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US" sz="2400"/>
          </a:p>
        </p:txBody>
      </p:sp>
      <p:sp>
        <p:nvSpPr>
          <p:cNvPr id="90" name="Text 87">
            <a:extLst>
              <a:ext uri="{FF2B5EF4-FFF2-40B4-BE49-F238E27FC236}">
                <a16:creationId xmlns:a16="http://schemas.microsoft.com/office/drawing/2014/main" id="{9082CBB5-FF98-5DD8-D647-70EFAE7C8E59}"/>
              </a:ext>
            </a:extLst>
          </p:cNvPr>
          <p:cNvSpPr/>
          <p:nvPr/>
        </p:nvSpPr>
        <p:spPr>
          <a:xfrm>
            <a:off x="9211056" y="4510837"/>
            <a:ext cx="24384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Gamal (left the team)</a:t>
            </a:r>
            <a:endParaRPr lang="en-US" sz="1067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1" name="Text 88">
            <a:extLst>
              <a:ext uri="{FF2B5EF4-FFF2-40B4-BE49-F238E27FC236}">
                <a16:creationId xmlns:a16="http://schemas.microsoft.com/office/drawing/2014/main" id="{937CA9B8-847C-3CD1-7F9F-C6920B54004A}"/>
              </a:ext>
            </a:extLst>
          </p:cNvPr>
          <p:cNvSpPr/>
          <p:nvPr/>
        </p:nvSpPr>
        <p:spPr>
          <a:xfrm>
            <a:off x="9211056" y="4693717"/>
            <a:ext cx="243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S. Accountant</a:t>
            </a:r>
            <a:endParaRPr lang="en-US" sz="933" dirty="0"/>
          </a:p>
        </p:txBody>
      </p:sp>
      <p:sp>
        <p:nvSpPr>
          <p:cNvPr id="92" name="Text 5">
            <a:extLst>
              <a:ext uri="{FF2B5EF4-FFF2-40B4-BE49-F238E27FC236}">
                <a16:creationId xmlns:a16="http://schemas.microsoft.com/office/drawing/2014/main" id="{5ACB4F61-252A-C914-F293-7CAAE3CE4000}"/>
              </a:ext>
            </a:extLst>
          </p:cNvPr>
          <p:cNvSpPr/>
          <p:nvPr/>
        </p:nvSpPr>
        <p:spPr>
          <a:xfrm>
            <a:off x="329187" y="3310129"/>
            <a:ext cx="2834637" cy="26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Manager (under promotion)</a:t>
            </a:r>
          </a:p>
        </p:txBody>
      </p:sp>
      <p:sp>
        <p:nvSpPr>
          <p:cNvPr id="93" name="Text 5">
            <a:extLst>
              <a:ext uri="{FF2B5EF4-FFF2-40B4-BE49-F238E27FC236}">
                <a16:creationId xmlns:a16="http://schemas.microsoft.com/office/drawing/2014/main" id="{467CBE6D-D24F-C30D-6315-58DC96C879FD}"/>
              </a:ext>
            </a:extLst>
          </p:cNvPr>
          <p:cNvSpPr/>
          <p:nvPr/>
        </p:nvSpPr>
        <p:spPr>
          <a:xfrm>
            <a:off x="3241379" y="3190750"/>
            <a:ext cx="2834637" cy="26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 err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Revenue&amp;AR</a:t>
            </a:r>
            <a:r>
              <a:rPr lang="en-US" sz="1067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Accounts Manager (Commercial)</a:t>
            </a:r>
          </a:p>
        </p:txBody>
      </p:sp>
      <p:sp>
        <p:nvSpPr>
          <p:cNvPr id="95" name="Text 5">
            <a:extLst>
              <a:ext uri="{FF2B5EF4-FFF2-40B4-BE49-F238E27FC236}">
                <a16:creationId xmlns:a16="http://schemas.microsoft.com/office/drawing/2014/main" id="{E73EF853-D698-60A2-EFBB-36CF2EC37284}"/>
              </a:ext>
            </a:extLst>
          </p:cNvPr>
          <p:cNvSpPr/>
          <p:nvPr/>
        </p:nvSpPr>
        <p:spPr>
          <a:xfrm>
            <a:off x="6119032" y="3191258"/>
            <a:ext cx="2834637" cy="26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 err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Revenue&amp;AR</a:t>
            </a:r>
            <a:r>
              <a:rPr lang="en-US" sz="1067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Accounts Manager (B2B&amp;B.Partner)</a:t>
            </a:r>
          </a:p>
        </p:txBody>
      </p:sp>
      <p:sp>
        <p:nvSpPr>
          <p:cNvPr id="96" name="Text 5">
            <a:extLst>
              <a:ext uri="{FF2B5EF4-FFF2-40B4-BE49-F238E27FC236}">
                <a16:creationId xmlns:a16="http://schemas.microsoft.com/office/drawing/2014/main" id="{EE638C13-FE8C-EF05-E93D-F45520D653B9}"/>
              </a:ext>
            </a:extLst>
          </p:cNvPr>
          <p:cNvSpPr/>
          <p:nvPr/>
        </p:nvSpPr>
        <p:spPr>
          <a:xfrm>
            <a:off x="9027163" y="3181097"/>
            <a:ext cx="2834637" cy="266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 err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Revenue&amp;AR</a:t>
            </a:r>
            <a:r>
              <a:rPr lang="en-US" sz="1067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Accounts Manager (Deelz)</a:t>
            </a:r>
          </a:p>
        </p:txBody>
      </p:sp>
    </p:spTree>
    <p:extLst>
      <p:ext uri="{BB962C8B-B14F-4D97-AF65-F5344CB8AC3E}">
        <p14:creationId xmlns:p14="http://schemas.microsoft.com/office/powerpoint/2010/main" val="346747637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B2F173-8347-4CDA-8526-7C73B10B2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22240" y="1952030"/>
            <a:ext cx="0" cy="1828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6C74C7-6D1E-40C0-B20E-AEC86CBF9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502477" y="2673006"/>
            <a:ext cx="2915" cy="3240947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C48643-F92A-492B-93F6-288E5416B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512753" y="3498700"/>
            <a:ext cx="93544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7B97CB0-5AD0-4BC9-8226-A71C93CB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10800000" flipV="1">
            <a:off x="1165118" y="1942250"/>
            <a:ext cx="4826106" cy="187772"/>
          </a:xfrm>
          <a:prstGeom prst="bentConnector2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4B700ED-2DAE-4DB7-8395-4FC8FCF03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85356" y="1941757"/>
            <a:ext cx="4971142" cy="252758"/>
          </a:xfrm>
          <a:prstGeom prst="bentConnector3">
            <a:avLst>
              <a:gd name="adj1" fmla="val 100252"/>
            </a:avLst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85FD2E8-54AC-47EB-AF13-29D476BB7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19381" y="1961407"/>
            <a:ext cx="0" cy="18288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B4A317-E01B-419C-A40C-AB35373C3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678327" y="726836"/>
            <a:ext cx="5190" cy="1234573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sp>
        <p:nvSpPr>
          <p:cNvPr id="27" name="Title 1">
            <a:extLst>
              <a:ext uri="{FF2B5EF4-FFF2-40B4-BE49-F238E27FC236}">
                <a16:creationId xmlns:a16="http://schemas.microsoft.com/office/drawing/2014/main" id="{C9EF9F8A-2E74-49CC-AC20-A23C00B7573D}"/>
              </a:ext>
            </a:extLst>
          </p:cNvPr>
          <p:cNvSpPr txBox="1">
            <a:spLocks/>
          </p:cNvSpPr>
          <p:nvPr/>
        </p:nvSpPr>
        <p:spPr>
          <a:xfrm>
            <a:off x="49812" y="-115057"/>
            <a:ext cx="4261871" cy="561486"/>
          </a:xfrm>
          <a:prstGeom prst="rect">
            <a:avLst/>
          </a:prstGeom>
        </p:spPr>
        <p:txBody>
          <a:bodyPr vert="horz" lIns="91440" tIns="45720" rIns="91440" bIns="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Financial Planning</a:t>
            </a:r>
            <a:r>
              <a:rPr lang="en-US" sz="14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&amp; </a:t>
            </a:r>
            <a:r>
              <a:rPr lang="en-US" sz="140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Analysis</a:t>
            </a:r>
            <a:r>
              <a:rPr lang="en-US" sz="140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1400" i="0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Sector</a:t>
            </a:r>
            <a:endParaRPr lang="en-US" sz="1400" dirty="0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3CAF289-3A1A-4612-8BA0-9D2479DF34C1}"/>
              </a:ext>
            </a:extLst>
          </p:cNvPr>
          <p:cNvSpPr txBox="1">
            <a:spLocks/>
          </p:cNvSpPr>
          <p:nvPr/>
        </p:nvSpPr>
        <p:spPr>
          <a:xfrm>
            <a:off x="49812" y="466561"/>
            <a:ext cx="3734603" cy="421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Accounts &amp; Fin. Analysis Department (Commercial - Deelz - B2B –</a:t>
            </a:r>
            <a:r>
              <a:rPr lang="en-US" sz="1400" dirty="0" err="1"/>
              <a:t>B.Partner</a:t>
            </a:r>
            <a:r>
              <a:rPr lang="en-US" sz="1400" dirty="0"/>
              <a:t>- Services -Tech care )</a:t>
            </a:r>
          </a:p>
        </p:txBody>
      </p:sp>
      <p:sp>
        <p:nvSpPr>
          <p:cNvPr id="30" name="Text Placeholder 281">
            <a:extLst>
              <a:ext uri="{FF2B5EF4-FFF2-40B4-BE49-F238E27FC236}">
                <a16:creationId xmlns:a16="http://schemas.microsoft.com/office/drawing/2014/main" id="{943A4E76-8D86-42BB-B5E8-224AC12AC9C0}"/>
              </a:ext>
            </a:extLst>
          </p:cNvPr>
          <p:cNvSpPr txBox="1">
            <a:spLocks/>
          </p:cNvSpPr>
          <p:nvPr/>
        </p:nvSpPr>
        <p:spPr>
          <a:xfrm>
            <a:off x="950356" y="2140968"/>
            <a:ext cx="1092127" cy="731520"/>
          </a:xfrm>
          <a:prstGeom prst="rect">
            <a:avLst/>
          </a:prstGeom>
          <a:solidFill>
            <a:srgbClr val="8BEEF6"/>
          </a:solidFill>
        </p:spPr>
        <p:txBody>
          <a:bodyPr vert="horz" lIns="182880" tIns="91440" rIns="18288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20"/>
              </a:spcAft>
              <a:buFont typeface="Arial" panose="020B0604020202020204" pitchFamily="34" charset="0"/>
              <a:buNone/>
              <a:defRPr sz="1000" b="1" kern="120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03864"/>
                </a:solidFill>
              </a:rPr>
              <a:t>Mohamed Abdullah</a:t>
            </a:r>
          </a:p>
        </p:txBody>
      </p:sp>
      <p:sp>
        <p:nvSpPr>
          <p:cNvPr id="31" name="Text Placeholder 282">
            <a:extLst>
              <a:ext uri="{FF2B5EF4-FFF2-40B4-BE49-F238E27FC236}">
                <a16:creationId xmlns:a16="http://schemas.microsoft.com/office/drawing/2014/main" id="{4106F007-B25F-4EF4-975D-BF11483BB7F4}"/>
              </a:ext>
            </a:extLst>
          </p:cNvPr>
          <p:cNvSpPr txBox="1">
            <a:spLocks/>
          </p:cNvSpPr>
          <p:nvPr/>
        </p:nvSpPr>
        <p:spPr>
          <a:xfrm>
            <a:off x="872946" y="2469297"/>
            <a:ext cx="1216775" cy="614552"/>
          </a:xfrm>
          <a:prstGeom prst="rect">
            <a:avLst/>
          </a:prstGeom>
        </p:spPr>
        <p:txBody>
          <a:bodyPr vert="horz" lIns="18288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000000"/>
                </a:solidFill>
                <a:latin typeface="Segoe UI" panose="020B0502040204020203" pitchFamily="34" charset="0"/>
              </a:rPr>
              <a:t>Financial Analysis Dept Manager (under promotion</a:t>
            </a:r>
          </a:p>
          <a:p>
            <a:endParaRPr lang="en-US" dirty="0">
              <a:solidFill>
                <a:srgbClr val="203864"/>
              </a:solidFill>
            </a:endParaRPr>
          </a:p>
        </p:txBody>
      </p:sp>
      <p:sp>
        <p:nvSpPr>
          <p:cNvPr id="37" name="Text Placeholder 420">
            <a:extLst>
              <a:ext uri="{FF2B5EF4-FFF2-40B4-BE49-F238E27FC236}">
                <a16:creationId xmlns:a16="http://schemas.microsoft.com/office/drawing/2014/main" id="{FFAA84E2-3652-4ADB-A41B-A92BD1DFEF6E}"/>
              </a:ext>
            </a:extLst>
          </p:cNvPr>
          <p:cNvSpPr txBox="1">
            <a:spLocks/>
          </p:cNvSpPr>
          <p:nvPr/>
        </p:nvSpPr>
        <p:spPr>
          <a:xfrm>
            <a:off x="4105381" y="2149478"/>
            <a:ext cx="1092127" cy="731520"/>
          </a:xfrm>
          <a:prstGeom prst="rect">
            <a:avLst/>
          </a:prstGeom>
          <a:solidFill>
            <a:srgbClr val="0EABB7">
              <a:lumMod val="40000"/>
              <a:lumOff val="60000"/>
            </a:srgbClr>
          </a:solidFill>
        </p:spPr>
        <p:txBody>
          <a:bodyPr vert="horz" lIns="182880" tIns="91440" rIns="18288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20"/>
              </a:spcAft>
              <a:buFont typeface="Arial" panose="020B0604020202020204" pitchFamily="34" charset="0"/>
              <a:buNone/>
              <a:defRPr sz="1000" b="1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Mohamed </a:t>
            </a:r>
            <a:r>
              <a:rPr lang="en-US" dirty="0" err="1"/>
              <a:t>Tawab</a:t>
            </a:r>
            <a:endParaRPr lang="en-US" dirty="0"/>
          </a:p>
        </p:txBody>
      </p:sp>
      <p:sp>
        <p:nvSpPr>
          <p:cNvPr id="38" name="Text Placeholder 421">
            <a:extLst>
              <a:ext uri="{FF2B5EF4-FFF2-40B4-BE49-F238E27FC236}">
                <a16:creationId xmlns:a16="http://schemas.microsoft.com/office/drawing/2014/main" id="{BBB1635C-7BA6-46C9-8135-31D09FCAF5B0}"/>
              </a:ext>
            </a:extLst>
          </p:cNvPr>
          <p:cNvSpPr txBox="1">
            <a:spLocks/>
          </p:cNvSpPr>
          <p:nvPr/>
        </p:nvSpPr>
        <p:spPr>
          <a:xfrm>
            <a:off x="4043871" y="2558604"/>
            <a:ext cx="1391957" cy="321122"/>
          </a:xfrm>
          <a:prstGeom prst="rect">
            <a:avLst/>
          </a:prstGeom>
        </p:spPr>
        <p:txBody>
          <a:bodyPr vert="horz" lIns="18288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r>
              <a:rPr lang="en-US" sz="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B2B-B.partner AR &amp; Revenue Manager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8" name="Text Placeholder 19">
            <a:extLst>
              <a:ext uri="{FF2B5EF4-FFF2-40B4-BE49-F238E27FC236}">
                <a16:creationId xmlns:a16="http://schemas.microsoft.com/office/drawing/2014/main" id="{03D84711-F472-47EE-8323-B7A2B55663EB}"/>
              </a:ext>
            </a:extLst>
          </p:cNvPr>
          <p:cNvSpPr txBox="1">
            <a:spLocks/>
          </p:cNvSpPr>
          <p:nvPr/>
        </p:nvSpPr>
        <p:spPr>
          <a:xfrm>
            <a:off x="4520634" y="95357"/>
            <a:ext cx="2471212" cy="731520"/>
          </a:xfrm>
          <a:prstGeom prst="rect">
            <a:avLst/>
          </a:prstGeom>
          <a:solidFill>
            <a:srgbClr val="FFFFFF">
              <a:lumMod val="95000"/>
            </a:srgbClr>
          </a:solidFill>
        </p:spPr>
        <p:txBody>
          <a:bodyPr vert="horz" lIns="182880" tIns="91440" rIns="45720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2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i="0" dirty="0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Hussein Abo </a:t>
            </a:r>
            <a:r>
              <a:rPr lang="en-US" sz="1400" b="1" i="0" dirty="0" err="1">
                <a:solidFill>
                  <a:srgbClr val="242424"/>
                </a:solidFill>
                <a:effectLst/>
                <a:latin typeface="Segoe UI" panose="020B0502040204020203" pitchFamily="34" charset="0"/>
              </a:rPr>
              <a:t>Elazaim</a:t>
            </a:r>
            <a:endParaRPr lang="en-US" sz="1400" b="1" i="0" dirty="0">
              <a:solidFill>
                <a:srgbClr val="242424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9" name="Text Placeholder 20">
            <a:extLst>
              <a:ext uri="{FF2B5EF4-FFF2-40B4-BE49-F238E27FC236}">
                <a16:creationId xmlns:a16="http://schemas.microsoft.com/office/drawing/2014/main" id="{95E76D31-21B4-44E2-BC7C-38F27FEFA21E}"/>
              </a:ext>
            </a:extLst>
          </p:cNvPr>
          <p:cNvSpPr txBox="1">
            <a:spLocks/>
          </p:cNvSpPr>
          <p:nvPr/>
        </p:nvSpPr>
        <p:spPr>
          <a:xfrm>
            <a:off x="4503238" y="465190"/>
            <a:ext cx="2383918" cy="113611"/>
          </a:xfrm>
          <a:prstGeom prst="rect">
            <a:avLst/>
          </a:prstGeom>
        </p:spPr>
        <p:txBody>
          <a:bodyPr vert="horz" lIns="18288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FP &amp; A Senior Business Partner</a:t>
            </a:r>
            <a:endParaRPr lang="en-US" sz="1200" dirty="0"/>
          </a:p>
        </p:txBody>
      </p:sp>
      <p:sp>
        <p:nvSpPr>
          <p:cNvPr id="61" name="Text Placeholder 426">
            <a:extLst>
              <a:ext uri="{FF2B5EF4-FFF2-40B4-BE49-F238E27FC236}">
                <a16:creationId xmlns:a16="http://schemas.microsoft.com/office/drawing/2014/main" id="{03F27EE7-9279-413D-BAEC-8F74E7143BFE}"/>
              </a:ext>
            </a:extLst>
          </p:cNvPr>
          <p:cNvSpPr txBox="1">
            <a:spLocks/>
          </p:cNvSpPr>
          <p:nvPr/>
        </p:nvSpPr>
        <p:spPr>
          <a:xfrm>
            <a:off x="7124288" y="2147606"/>
            <a:ext cx="1092127" cy="731520"/>
          </a:xfrm>
          <a:prstGeom prst="rect">
            <a:avLst/>
          </a:prstGeom>
          <a:solidFill>
            <a:srgbClr val="8BEEF6"/>
          </a:solidFill>
        </p:spPr>
        <p:txBody>
          <a:bodyPr vert="horz" lIns="182880" tIns="91440" rIns="18288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20"/>
              </a:spcAft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203864"/>
                </a:solidFill>
              </a:rPr>
              <a:t>Ahmed </a:t>
            </a:r>
            <a:r>
              <a:rPr lang="en-US" dirty="0" err="1">
                <a:solidFill>
                  <a:srgbClr val="203864"/>
                </a:solidFill>
              </a:rPr>
              <a:t>Mazher</a:t>
            </a:r>
            <a:endParaRPr lang="en-US" dirty="0">
              <a:solidFill>
                <a:srgbClr val="203864"/>
              </a:solidFill>
            </a:endParaRPr>
          </a:p>
        </p:txBody>
      </p:sp>
      <p:sp>
        <p:nvSpPr>
          <p:cNvPr id="62" name="Text Placeholder 427">
            <a:extLst>
              <a:ext uri="{FF2B5EF4-FFF2-40B4-BE49-F238E27FC236}">
                <a16:creationId xmlns:a16="http://schemas.microsoft.com/office/drawing/2014/main" id="{6B92ABAB-7F5B-45B5-90F0-08F9CB2F5154}"/>
              </a:ext>
            </a:extLst>
          </p:cNvPr>
          <p:cNvSpPr txBox="1">
            <a:spLocks/>
          </p:cNvSpPr>
          <p:nvPr/>
        </p:nvSpPr>
        <p:spPr>
          <a:xfrm>
            <a:off x="7032934" y="2472908"/>
            <a:ext cx="1353896" cy="365261"/>
          </a:xfrm>
          <a:prstGeom prst="rect">
            <a:avLst/>
          </a:prstGeom>
        </p:spPr>
        <p:txBody>
          <a:bodyPr vert="horz" lIns="18288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Commercial A.R &amp; Revenue Accounts Manager</a:t>
            </a:r>
            <a:endParaRPr lang="en-US" sz="800" dirty="0">
              <a:solidFill>
                <a:srgbClr val="203864"/>
              </a:solidFill>
            </a:endParaRPr>
          </a:p>
        </p:txBody>
      </p:sp>
      <p:sp>
        <p:nvSpPr>
          <p:cNvPr id="70" name="Text Placeholder 428">
            <a:extLst>
              <a:ext uri="{FF2B5EF4-FFF2-40B4-BE49-F238E27FC236}">
                <a16:creationId xmlns:a16="http://schemas.microsoft.com/office/drawing/2014/main" id="{38759466-AD22-41C8-9D93-DB46A1B8AF48}"/>
              </a:ext>
            </a:extLst>
          </p:cNvPr>
          <p:cNvSpPr txBox="1">
            <a:spLocks/>
          </p:cNvSpPr>
          <p:nvPr/>
        </p:nvSpPr>
        <p:spPr>
          <a:xfrm>
            <a:off x="10079797" y="2145940"/>
            <a:ext cx="1092127" cy="731520"/>
          </a:xfrm>
          <a:prstGeom prst="rect">
            <a:avLst/>
          </a:prstGeom>
          <a:solidFill>
            <a:srgbClr val="8BEEF6"/>
          </a:solidFill>
        </p:spPr>
        <p:txBody>
          <a:bodyPr vert="horz" lIns="182880" tIns="91440" rIns="18288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20"/>
              </a:spcAft>
              <a:buFont typeface="Arial" panose="020B0604020202020204" pitchFamily="34" charset="0"/>
              <a:buNone/>
              <a:defRPr sz="1000" b="1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Emad </a:t>
            </a:r>
            <a:r>
              <a:rPr lang="en-US" dirty="0" err="1"/>
              <a:t>Awad</a:t>
            </a:r>
            <a:endParaRPr lang="en-US" dirty="0"/>
          </a:p>
        </p:txBody>
      </p:sp>
      <p:sp>
        <p:nvSpPr>
          <p:cNvPr id="71" name="Text Placeholder 429">
            <a:extLst>
              <a:ext uri="{FF2B5EF4-FFF2-40B4-BE49-F238E27FC236}">
                <a16:creationId xmlns:a16="http://schemas.microsoft.com/office/drawing/2014/main" id="{10E23233-266B-4BB1-889F-A08E01A7DE34}"/>
              </a:ext>
            </a:extLst>
          </p:cNvPr>
          <p:cNvSpPr txBox="1">
            <a:spLocks/>
          </p:cNvSpPr>
          <p:nvPr/>
        </p:nvSpPr>
        <p:spPr>
          <a:xfrm>
            <a:off x="9992617" y="2439311"/>
            <a:ext cx="1408190" cy="332764"/>
          </a:xfrm>
          <a:prstGeom prst="rect">
            <a:avLst/>
          </a:prstGeom>
        </p:spPr>
        <p:txBody>
          <a:bodyPr vert="horz" lIns="18288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0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Deelz</a:t>
            </a:r>
            <a:r>
              <a:rPr lang="en-US" sz="8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A.R &amp; Revenue Accounts Manager</a:t>
            </a:r>
            <a:endParaRPr lang="en-US" sz="800" dirty="0">
              <a:solidFill>
                <a:srgbClr val="203864"/>
              </a:solidFill>
            </a:endParaRP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1DEC991-3297-47EB-9BF8-FEA2232D5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449860" y="2698837"/>
            <a:ext cx="28458" cy="3230559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8E87C159-7C2C-4B7C-92B9-0F7875BC8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8320" y="2748114"/>
            <a:ext cx="0" cy="3181282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8B325BC-4935-4E8A-B4DA-867C61327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407910" y="2673006"/>
            <a:ext cx="20472" cy="325639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4BEFC43-6BBB-4196-AFA1-3B6BD6204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499053" y="5899419"/>
            <a:ext cx="93544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690084F-5E63-4861-A444-97E57605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416908" y="3556909"/>
            <a:ext cx="93544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6124AE1-01F2-4440-B3F5-4D84DA410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423754" y="5916541"/>
            <a:ext cx="93544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BD12F850-361C-4010-A62C-D31A89050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447602" y="3495270"/>
            <a:ext cx="93544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0467229-17BD-4D02-908B-C17EFFAA9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466436" y="5918263"/>
            <a:ext cx="93544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3B78A96-B1BF-4C7F-8E32-27CDB87B6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43099" y="3503840"/>
            <a:ext cx="93544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6809655-66A7-4CFA-BEFE-474923D86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60221" y="5914841"/>
            <a:ext cx="93544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sp>
        <p:nvSpPr>
          <p:cNvPr id="103" name="Text Placeholder 657">
            <a:extLst>
              <a:ext uri="{FF2B5EF4-FFF2-40B4-BE49-F238E27FC236}">
                <a16:creationId xmlns:a16="http://schemas.microsoft.com/office/drawing/2014/main" id="{933E67B3-3D9C-403B-AE5E-6256CE204E9F}"/>
              </a:ext>
            </a:extLst>
          </p:cNvPr>
          <p:cNvSpPr txBox="1">
            <a:spLocks/>
          </p:cNvSpPr>
          <p:nvPr/>
        </p:nvSpPr>
        <p:spPr>
          <a:xfrm>
            <a:off x="456341" y="2950181"/>
            <a:ext cx="2687355" cy="1261224"/>
          </a:xfrm>
          <a:prstGeom prst="rect">
            <a:avLst/>
          </a:prstGeom>
          <a:solidFill>
            <a:srgbClr val="00B0F0">
              <a:lumMod val="20000"/>
              <a:lumOff val="80000"/>
            </a:srgbClr>
          </a:solidFill>
        </p:spPr>
        <p:txBody>
          <a:bodyPr vert="horz" lIns="182880" tIns="13716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Career Path</a:t>
            </a:r>
          </a:p>
        </p:txBody>
      </p:sp>
      <p:sp>
        <p:nvSpPr>
          <p:cNvPr id="105" name="Text Placeholder 657">
            <a:extLst>
              <a:ext uri="{FF2B5EF4-FFF2-40B4-BE49-F238E27FC236}">
                <a16:creationId xmlns:a16="http://schemas.microsoft.com/office/drawing/2014/main" id="{452AB33D-F7F1-4932-9B52-637EC4451776}"/>
              </a:ext>
            </a:extLst>
          </p:cNvPr>
          <p:cNvSpPr txBox="1">
            <a:spLocks/>
          </p:cNvSpPr>
          <p:nvPr/>
        </p:nvSpPr>
        <p:spPr>
          <a:xfrm>
            <a:off x="464048" y="5081116"/>
            <a:ext cx="2679647" cy="1310010"/>
          </a:xfrm>
          <a:prstGeom prst="rect">
            <a:avLst/>
          </a:prstGeom>
          <a:solidFill>
            <a:srgbClr val="00B0F0">
              <a:lumMod val="20000"/>
              <a:lumOff val="80000"/>
            </a:srgbClr>
          </a:solidFill>
        </p:spPr>
        <p:txBody>
          <a:bodyPr vert="horz" lIns="182880" tIns="13716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OKRs 2026</a:t>
            </a:r>
          </a:p>
        </p:txBody>
      </p:sp>
      <p:pic>
        <p:nvPicPr>
          <p:cNvPr id="54" name="Picture 53" descr="A person in a white hoodie&#10;&#10;Description automatically generated">
            <a:extLst>
              <a:ext uri="{FF2B5EF4-FFF2-40B4-BE49-F238E27FC236}">
                <a16:creationId xmlns:a16="http://schemas.microsoft.com/office/drawing/2014/main" id="{22035C42-5917-46F2-89EA-61F5FEF49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03" y="2140234"/>
            <a:ext cx="729653" cy="73152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1C940AD6-A38A-488A-90D1-F87F689AD2FB}"/>
              </a:ext>
            </a:extLst>
          </p:cNvPr>
          <p:cNvSpPr txBox="1"/>
          <p:nvPr/>
        </p:nvSpPr>
        <p:spPr>
          <a:xfrm>
            <a:off x="482837" y="3174355"/>
            <a:ext cx="268603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800" dirty="0"/>
              <a:t>2005–2006 | Branch Accountant</a:t>
            </a:r>
          </a:p>
          <a:p>
            <a:pPr>
              <a:defRPr sz="1600"/>
            </a:pPr>
            <a:r>
              <a:rPr sz="800" dirty="0"/>
              <a:t>2007–20</a:t>
            </a:r>
            <a:r>
              <a:rPr lang="en-US" sz="800" dirty="0"/>
              <a:t>13</a:t>
            </a:r>
            <a:r>
              <a:rPr sz="800" dirty="0"/>
              <a:t> | Sr. AR Accountant</a:t>
            </a:r>
            <a:r>
              <a:rPr lang="en-US" sz="800" dirty="0"/>
              <a:t> - Sr. Reporting &amp; Budget Acct.</a:t>
            </a:r>
          </a:p>
          <a:p>
            <a:pPr>
              <a:defRPr sz="1600"/>
            </a:pPr>
            <a:r>
              <a:rPr sz="800" dirty="0"/>
              <a:t>2014–201</a:t>
            </a:r>
            <a:r>
              <a:rPr lang="en-US" sz="800" dirty="0"/>
              <a:t>6</a:t>
            </a:r>
            <a:r>
              <a:rPr sz="800" dirty="0"/>
              <a:t> | Inventory &amp; AP Section Head</a:t>
            </a:r>
          </a:p>
          <a:p>
            <a:pPr>
              <a:defRPr sz="1600"/>
            </a:pPr>
            <a:r>
              <a:rPr sz="800" dirty="0"/>
              <a:t>201</a:t>
            </a:r>
            <a:r>
              <a:rPr lang="en-US" sz="800" dirty="0"/>
              <a:t>7</a:t>
            </a:r>
            <a:r>
              <a:rPr sz="800" dirty="0"/>
              <a:t>–2023 | Inventory &amp; AP Manager</a:t>
            </a:r>
            <a:r>
              <a:rPr lang="en-US" sz="800" dirty="0"/>
              <a:t> (Service)</a:t>
            </a:r>
            <a:endParaRPr sz="800" dirty="0"/>
          </a:p>
          <a:p>
            <a:pPr>
              <a:defRPr sz="1600"/>
            </a:pPr>
            <a:r>
              <a:rPr sz="800" dirty="0"/>
              <a:t>2024–2025 | AR &amp; Revenue Manager – </a:t>
            </a:r>
            <a:r>
              <a:rPr sz="800" dirty="0" err="1"/>
              <a:t>Deelz</a:t>
            </a:r>
            <a:endParaRPr sz="800" dirty="0"/>
          </a:p>
          <a:p>
            <a:r>
              <a:rPr sz="800" dirty="0"/>
              <a:t>2026–Present | </a:t>
            </a:r>
            <a:r>
              <a:rPr lang="en-US" sz="800" dirty="0"/>
              <a:t>Financial Analysis</a:t>
            </a:r>
          </a:p>
          <a:p>
            <a:r>
              <a:rPr lang="en-US" sz="800" dirty="0"/>
              <a:t>Dept Manager (under promotion)</a:t>
            </a:r>
            <a:endParaRPr sz="800" dirty="0"/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690170CA-D777-410B-9B44-39E47FF5C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786" y="5353632"/>
            <a:ext cx="2615448" cy="1077664"/>
          </a:xfrm>
        </p:spPr>
        <p:txBody>
          <a:bodyPr>
            <a:normAutofit lnSpcReduction="10000"/>
          </a:bodyPr>
          <a:lstStyle/>
          <a:p>
            <a:r>
              <a:rPr lang="en-US" sz="800" dirty="0"/>
              <a:t>Support partners(Commercial - </a:t>
            </a:r>
            <a:r>
              <a:rPr lang="en-US" sz="800" dirty="0" err="1"/>
              <a:t>Deelz</a:t>
            </a:r>
            <a:r>
              <a:rPr lang="en-US" sz="800" dirty="0"/>
              <a:t> - B2B - </a:t>
            </a:r>
            <a:r>
              <a:rPr lang="en-US" sz="800" dirty="0" err="1"/>
              <a:t>B.Partner</a:t>
            </a:r>
            <a:r>
              <a:rPr lang="en-US" sz="800" dirty="0"/>
              <a:t> - Tech care - Service ) Achieving target topline and Gross profit. </a:t>
            </a:r>
          </a:p>
          <a:p>
            <a:r>
              <a:rPr lang="en-US" sz="800" dirty="0"/>
              <a:t>Support partners (Commercial - </a:t>
            </a:r>
            <a:r>
              <a:rPr lang="en-US" sz="800" dirty="0" err="1"/>
              <a:t>Deelz</a:t>
            </a:r>
            <a:r>
              <a:rPr lang="en-US" sz="800" dirty="0"/>
              <a:t> - B2B - </a:t>
            </a:r>
            <a:r>
              <a:rPr lang="en-US" sz="800" dirty="0" err="1"/>
              <a:t>B.Partner</a:t>
            </a:r>
            <a:r>
              <a:rPr lang="en-US" sz="800" dirty="0"/>
              <a:t> - Tech care - Service )Achieving target bottom line </a:t>
            </a:r>
          </a:p>
          <a:p>
            <a:r>
              <a:rPr sz="800" dirty="0"/>
              <a:t>Retain Top Performers: 100%</a:t>
            </a:r>
          </a:p>
        </p:txBody>
      </p:sp>
      <p:pic>
        <p:nvPicPr>
          <p:cNvPr id="3" name="Picture 2" descr="A person in a suit&#10;&#10;Description automatically generated">
            <a:extLst>
              <a:ext uri="{FF2B5EF4-FFF2-40B4-BE49-F238E27FC236}">
                <a16:creationId xmlns:a16="http://schemas.microsoft.com/office/drawing/2014/main" id="{5BC0D486-7EAD-4628-93E8-2525BD0C53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3547" y="2145335"/>
            <a:ext cx="731520" cy="717829"/>
          </a:xfrm>
          <a:prstGeom prst="rect">
            <a:avLst/>
          </a:prstGeom>
        </p:spPr>
      </p:pic>
      <p:sp>
        <p:nvSpPr>
          <p:cNvPr id="66" name="Text Placeholder 657">
            <a:extLst>
              <a:ext uri="{FF2B5EF4-FFF2-40B4-BE49-F238E27FC236}">
                <a16:creationId xmlns:a16="http://schemas.microsoft.com/office/drawing/2014/main" id="{D54E8C36-6886-4CE9-86B3-D33BF8B90060}"/>
              </a:ext>
            </a:extLst>
          </p:cNvPr>
          <p:cNvSpPr txBox="1">
            <a:spLocks/>
          </p:cNvSpPr>
          <p:nvPr/>
        </p:nvSpPr>
        <p:spPr>
          <a:xfrm>
            <a:off x="3542304" y="2953446"/>
            <a:ext cx="2684864" cy="1238602"/>
          </a:xfrm>
          <a:prstGeom prst="rect">
            <a:avLst/>
          </a:prstGeom>
          <a:solidFill>
            <a:srgbClr val="00B0F0">
              <a:lumMod val="20000"/>
              <a:lumOff val="80000"/>
            </a:srgbClr>
          </a:solidFill>
        </p:spPr>
        <p:txBody>
          <a:bodyPr vert="horz" lIns="182880" tIns="13716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Career Path</a:t>
            </a:r>
          </a:p>
        </p:txBody>
      </p:sp>
      <p:sp>
        <p:nvSpPr>
          <p:cNvPr id="68" name="Text Placeholder 657">
            <a:extLst>
              <a:ext uri="{FF2B5EF4-FFF2-40B4-BE49-F238E27FC236}">
                <a16:creationId xmlns:a16="http://schemas.microsoft.com/office/drawing/2014/main" id="{C9DAA7C2-3055-4691-B225-F60D9FEC6C38}"/>
              </a:ext>
            </a:extLst>
          </p:cNvPr>
          <p:cNvSpPr txBox="1">
            <a:spLocks/>
          </p:cNvSpPr>
          <p:nvPr/>
        </p:nvSpPr>
        <p:spPr>
          <a:xfrm>
            <a:off x="3645758" y="5075283"/>
            <a:ext cx="2581410" cy="1315843"/>
          </a:xfrm>
          <a:prstGeom prst="rect">
            <a:avLst/>
          </a:prstGeom>
          <a:solidFill>
            <a:srgbClr val="00B0F0">
              <a:lumMod val="20000"/>
              <a:lumOff val="80000"/>
            </a:srgbClr>
          </a:solidFill>
        </p:spPr>
        <p:txBody>
          <a:bodyPr vert="horz" lIns="182880" tIns="13716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OKRs 2026</a:t>
            </a:r>
          </a:p>
        </p:txBody>
      </p:sp>
      <p:sp>
        <p:nvSpPr>
          <p:cNvPr id="73" name="Text Placeholder 657">
            <a:extLst>
              <a:ext uri="{FF2B5EF4-FFF2-40B4-BE49-F238E27FC236}">
                <a16:creationId xmlns:a16="http://schemas.microsoft.com/office/drawing/2014/main" id="{9861EA0B-2D42-4CED-A746-642B08947452}"/>
              </a:ext>
            </a:extLst>
          </p:cNvPr>
          <p:cNvSpPr txBox="1">
            <a:spLocks/>
          </p:cNvSpPr>
          <p:nvPr/>
        </p:nvSpPr>
        <p:spPr>
          <a:xfrm>
            <a:off x="7032935" y="92287"/>
            <a:ext cx="3194302" cy="1777206"/>
          </a:xfrm>
          <a:prstGeom prst="rect">
            <a:avLst/>
          </a:prstGeom>
          <a:solidFill>
            <a:srgbClr val="00B0F0">
              <a:lumMod val="20000"/>
              <a:lumOff val="80000"/>
            </a:srgbClr>
          </a:solidFill>
        </p:spPr>
        <p:txBody>
          <a:bodyPr vert="horz" lIns="182880" tIns="13716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Career Path</a:t>
            </a:r>
          </a:p>
        </p:txBody>
      </p:sp>
      <p:sp>
        <p:nvSpPr>
          <p:cNvPr id="74" name="Text Placeholder 657">
            <a:extLst>
              <a:ext uri="{FF2B5EF4-FFF2-40B4-BE49-F238E27FC236}">
                <a16:creationId xmlns:a16="http://schemas.microsoft.com/office/drawing/2014/main" id="{A3E25CB8-CC84-4813-AD52-CD61830B9CB7}"/>
              </a:ext>
            </a:extLst>
          </p:cNvPr>
          <p:cNvSpPr txBox="1">
            <a:spLocks/>
          </p:cNvSpPr>
          <p:nvPr/>
        </p:nvSpPr>
        <p:spPr>
          <a:xfrm>
            <a:off x="6609084" y="2957012"/>
            <a:ext cx="2642692" cy="1254393"/>
          </a:xfrm>
          <a:prstGeom prst="rect">
            <a:avLst/>
          </a:prstGeom>
          <a:solidFill>
            <a:srgbClr val="00B0F0">
              <a:lumMod val="20000"/>
              <a:lumOff val="80000"/>
            </a:srgbClr>
          </a:solidFill>
        </p:spPr>
        <p:txBody>
          <a:bodyPr vert="horz" lIns="182880" tIns="13716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Career Path</a:t>
            </a:r>
          </a:p>
        </p:txBody>
      </p:sp>
      <p:sp>
        <p:nvSpPr>
          <p:cNvPr id="80" name="Text Placeholder 657">
            <a:extLst>
              <a:ext uri="{FF2B5EF4-FFF2-40B4-BE49-F238E27FC236}">
                <a16:creationId xmlns:a16="http://schemas.microsoft.com/office/drawing/2014/main" id="{D72CFF3A-D1C7-43FA-B628-611DA41EEF90}"/>
              </a:ext>
            </a:extLst>
          </p:cNvPr>
          <p:cNvSpPr txBox="1">
            <a:spLocks/>
          </p:cNvSpPr>
          <p:nvPr/>
        </p:nvSpPr>
        <p:spPr>
          <a:xfrm>
            <a:off x="6614410" y="5075283"/>
            <a:ext cx="2637366" cy="1315843"/>
          </a:xfrm>
          <a:prstGeom prst="rect">
            <a:avLst/>
          </a:prstGeom>
          <a:solidFill>
            <a:srgbClr val="00B0F0">
              <a:lumMod val="20000"/>
              <a:lumOff val="80000"/>
            </a:srgbClr>
          </a:solidFill>
        </p:spPr>
        <p:txBody>
          <a:bodyPr vert="horz" lIns="182880" tIns="13716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OKRs 2026</a:t>
            </a:r>
          </a:p>
        </p:txBody>
      </p:sp>
      <p:sp>
        <p:nvSpPr>
          <p:cNvPr id="83" name="Text Placeholder 657">
            <a:extLst>
              <a:ext uri="{FF2B5EF4-FFF2-40B4-BE49-F238E27FC236}">
                <a16:creationId xmlns:a16="http://schemas.microsoft.com/office/drawing/2014/main" id="{1639C078-2D30-4DA5-8F12-958E536D378E}"/>
              </a:ext>
            </a:extLst>
          </p:cNvPr>
          <p:cNvSpPr txBox="1">
            <a:spLocks/>
          </p:cNvSpPr>
          <p:nvPr/>
        </p:nvSpPr>
        <p:spPr>
          <a:xfrm>
            <a:off x="9523873" y="2962643"/>
            <a:ext cx="2642692" cy="1248762"/>
          </a:xfrm>
          <a:prstGeom prst="rect">
            <a:avLst/>
          </a:prstGeom>
          <a:solidFill>
            <a:srgbClr val="00B0F0">
              <a:lumMod val="20000"/>
              <a:lumOff val="80000"/>
            </a:srgbClr>
          </a:solidFill>
        </p:spPr>
        <p:txBody>
          <a:bodyPr vert="horz" lIns="182880" tIns="13716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Career Path</a:t>
            </a:r>
          </a:p>
        </p:txBody>
      </p:sp>
      <p:sp>
        <p:nvSpPr>
          <p:cNvPr id="88" name="Text Placeholder 657">
            <a:extLst>
              <a:ext uri="{FF2B5EF4-FFF2-40B4-BE49-F238E27FC236}">
                <a16:creationId xmlns:a16="http://schemas.microsoft.com/office/drawing/2014/main" id="{AAD7C924-7A48-4E12-A273-FA5123DD00B5}"/>
              </a:ext>
            </a:extLst>
          </p:cNvPr>
          <p:cNvSpPr txBox="1">
            <a:spLocks/>
          </p:cNvSpPr>
          <p:nvPr/>
        </p:nvSpPr>
        <p:spPr>
          <a:xfrm>
            <a:off x="9559443" y="5064640"/>
            <a:ext cx="2580940" cy="1366656"/>
          </a:xfrm>
          <a:prstGeom prst="rect">
            <a:avLst/>
          </a:prstGeom>
          <a:solidFill>
            <a:srgbClr val="00B0F0">
              <a:lumMod val="20000"/>
              <a:lumOff val="80000"/>
            </a:srgbClr>
          </a:solidFill>
        </p:spPr>
        <p:txBody>
          <a:bodyPr vert="horz" lIns="182880" tIns="13716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OKRs 2026</a:t>
            </a:r>
          </a:p>
        </p:txBody>
      </p:sp>
      <p:sp>
        <p:nvSpPr>
          <p:cNvPr id="109" name="Text Placeholder 657">
            <a:extLst>
              <a:ext uri="{FF2B5EF4-FFF2-40B4-BE49-F238E27FC236}">
                <a16:creationId xmlns:a16="http://schemas.microsoft.com/office/drawing/2014/main" id="{853890B4-A676-4D4F-A824-11C3460AF40F}"/>
              </a:ext>
            </a:extLst>
          </p:cNvPr>
          <p:cNvSpPr txBox="1">
            <a:spLocks/>
          </p:cNvSpPr>
          <p:nvPr/>
        </p:nvSpPr>
        <p:spPr>
          <a:xfrm>
            <a:off x="9735565" y="93702"/>
            <a:ext cx="2280671" cy="1767240"/>
          </a:xfrm>
          <a:prstGeom prst="rect">
            <a:avLst/>
          </a:prstGeom>
          <a:solidFill>
            <a:srgbClr val="00B0F0">
              <a:lumMod val="20000"/>
              <a:lumOff val="80000"/>
            </a:srgbClr>
          </a:solidFill>
        </p:spPr>
        <p:txBody>
          <a:bodyPr vert="horz" lIns="182880" tIns="13716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OKRs 2026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1BE677-CFB1-4151-A70C-535D8584AF82}"/>
              </a:ext>
            </a:extLst>
          </p:cNvPr>
          <p:cNvSpPr txBox="1"/>
          <p:nvPr/>
        </p:nvSpPr>
        <p:spPr>
          <a:xfrm>
            <a:off x="9584516" y="3276420"/>
            <a:ext cx="2348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sz="800" dirty="0"/>
              <a:t>1999-2010</a:t>
            </a:r>
            <a:r>
              <a:rPr sz="800" dirty="0"/>
              <a:t> | </a:t>
            </a:r>
            <a:r>
              <a:rPr lang="en-US" sz="800" dirty="0"/>
              <a:t>Accountant (Retail Customers – Audit-       Branch Follow-up)</a:t>
            </a:r>
            <a:endParaRPr sz="800" dirty="0"/>
          </a:p>
          <a:p>
            <a:pPr algn="l">
              <a:defRPr sz="1600"/>
            </a:pPr>
            <a:r>
              <a:rPr sz="800" dirty="0"/>
              <a:t>201</a:t>
            </a:r>
            <a:r>
              <a:rPr lang="en-US" sz="800" dirty="0"/>
              <a:t>1</a:t>
            </a:r>
            <a:r>
              <a:rPr sz="800" dirty="0"/>
              <a:t>–20</a:t>
            </a:r>
            <a:r>
              <a:rPr lang="en-US" sz="800" dirty="0"/>
              <a:t>16</a:t>
            </a:r>
            <a:r>
              <a:rPr sz="800" dirty="0"/>
              <a:t> | </a:t>
            </a:r>
            <a:r>
              <a:rPr lang="en-US" sz="800" dirty="0" err="1"/>
              <a:t>AR&amp;Revenue</a:t>
            </a:r>
            <a:r>
              <a:rPr lang="en-US" sz="800" dirty="0"/>
              <a:t>  Section Head</a:t>
            </a:r>
            <a:endParaRPr sz="800" dirty="0"/>
          </a:p>
          <a:p>
            <a:pPr algn="l">
              <a:defRPr sz="1600"/>
            </a:pPr>
            <a:r>
              <a:rPr sz="800" dirty="0"/>
              <a:t>20</a:t>
            </a:r>
            <a:r>
              <a:rPr lang="en-US" sz="800" dirty="0"/>
              <a:t>17</a:t>
            </a:r>
            <a:r>
              <a:rPr sz="800" dirty="0"/>
              <a:t>–2025 | AR &amp; Revenue Manager – </a:t>
            </a:r>
            <a:r>
              <a:rPr lang="en-US" sz="800" dirty="0"/>
              <a:t>Commercial</a:t>
            </a:r>
            <a:endParaRPr sz="800" dirty="0"/>
          </a:p>
          <a:p>
            <a:pPr algn="l">
              <a:defRPr sz="1600"/>
            </a:pPr>
            <a:r>
              <a:rPr sz="800" dirty="0"/>
              <a:t>2026–Present |</a:t>
            </a:r>
            <a:r>
              <a:rPr lang="en-US" sz="800" dirty="0"/>
              <a:t> AR &amp; Revenue Manager – </a:t>
            </a:r>
            <a:r>
              <a:rPr lang="en-US" sz="800" dirty="0" err="1"/>
              <a:t>Deelz</a:t>
            </a:r>
            <a:endParaRPr sz="800" dirty="0"/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800C4A37-CF79-4064-A31F-83FEB776176D}"/>
              </a:ext>
            </a:extLst>
          </p:cNvPr>
          <p:cNvSpPr txBox="1">
            <a:spLocks/>
          </p:cNvSpPr>
          <p:nvPr/>
        </p:nvSpPr>
        <p:spPr>
          <a:xfrm>
            <a:off x="9508662" y="5322811"/>
            <a:ext cx="2610314" cy="1204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Support partner "Deelz" to Growing topline to reach 1.4bn</a:t>
            </a:r>
          </a:p>
          <a:p>
            <a:r>
              <a:rPr lang="en-US" sz="800" dirty="0"/>
              <a:t>Support partner "</a:t>
            </a:r>
            <a:r>
              <a:rPr lang="en-US" sz="800" dirty="0" err="1"/>
              <a:t>Deelz</a:t>
            </a:r>
            <a:r>
              <a:rPr lang="en-US" sz="800" dirty="0"/>
              <a:t>" to Deliver Gross Profit Margins of 87.5mn (6.3%)</a:t>
            </a:r>
          </a:p>
          <a:p>
            <a:r>
              <a:rPr lang="en-US" sz="800" dirty="0"/>
              <a:t>Retain Top Performers: 100%</a:t>
            </a:r>
          </a:p>
        </p:txBody>
      </p:sp>
      <p:pic>
        <p:nvPicPr>
          <p:cNvPr id="6" name="Picture 5" descr="A person in a suit&#10;&#10;Description automatically generated">
            <a:extLst>
              <a:ext uri="{FF2B5EF4-FFF2-40B4-BE49-F238E27FC236}">
                <a16:creationId xmlns:a16="http://schemas.microsoft.com/office/drawing/2014/main" id="{7B457C66-1753-4707-991A-5EA8E1772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160" y="2135781"/>
            <a:ext cx="731520" cy="73152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E5976F18-968D-4887-BDC7-33E584BC2F47}"/>
              </a:ext>
            </a:extLst>
          </p:cNvPr>
          <p:cNvSpPr txBox="1"/>
          <p:nvPr/>
        </p:nvSpPr>
        <p:spPr>
          <a:xfrm>
            <a:off x="3625624" y="3265517"/>
            <a:ext cx="247940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/>
            </a:pPr>
            <a:r>
              <a:rPr sz="900" dirty="0"/>
              <a:t>20</a:t>
            </a:r>
            <a:r>
              <a:rPr lang="en-US" sz="900" dirty="0"/>
              <a:t>10</a:t>
            </a:r>
            <a:r>
              <a:rPr sz="900" dirty="0"/>
              <a:t>–20</a:t>
            </a:r>
            <a:r>
              <a:rPr lang="en-US" sz="900" dirty="0"/>
              <a:t>13</a:t>
            </a:r>
            <a:r>
              <a:rPr sz="900" dirty="0"/>
              <a:t> | Branch Accountant</a:t>
            </a:r>
          </a:p>
          <a:p>
            <a:pPr algn="l">
              <a:defRPr sz="1600"/>
            </a:pPr>
            <a:r>
              <a:rPr sz="900" dirty="0"/>
              <a:t>20</a:t>
            </a:r>
            <a:r>
              <a:rPr lang="en-US" sz="900" dirty="0"/>
              <a:t>14</a:t>
            </a:r>
            <a:r>
              <a:rPr sz="900" dirty="0"/>
              <a:t>–20</a:t>
            </a:r>
            <a:r>
              <a:rPr lang="en-US" sz="900" dirty="0"/>
              <a:t>17</a:t>
            </a:r>
            <a:r>
              <a:rPr sz="900" dirty="0"/>
              <a:t> | Sr. AR Accountant</a:t>
            </a:r>
          </a:p>
          <a:p>
            <a:pPr algn="l">
              <a:defRPr sz="1600"/>
            </a:pPr>
            <a:r>
              <a:rPr sz="900" dirty="0"/>
              <a:t>201</a:t>
            </a:r>
            <a:r>
              <a:rPr lang="en-US" sz="900" dirty="0"/>
              <a:t>8</a:t>
            </a:r>
            <a:r>
              <a:rPr sz="900" dirty="0"/>
              <a:t>–20</a:t>
            </a:r>
            <a:r>
              <a:rPr lang="en-US" sz="900" dirty="0"/>
              <a:t>22</a:t>
            </a:r>
            <a:r>
              <a:rPr sz="900" dirty="0"/>
              <a:t> | </a:t>
            </a:r>
            <a:r>
              <a:rPr lang="en-US" sz="900" dirty="0" err="1"/>
              <a:t>AR&amp;Revenue</a:t>
            </a:r>
            <a:r>
              <a:rPr lang="en-US" sz="900" dirty="0"/>
              <a:t>  Section Head</a:t>
            </a:r>
            <a:endParaRPr sz="900" dirty="0"/>
          </a:p>
          <a:p>
            <a:pPr algn="l">
              <a:defRPr sz="1600"/>
            </a:pPr>
            <a:r>
              <a:rPr sz="900" dirty="0"/>
              <a:t>202</a:t>
            </a:r>
            <a:r>
              <a:rPr lang="en-US" sz="900" dirty="0"/>
              <a:t>3</a:t>
            </a:r>
            <a:r>
              <a:rPr sz="900" dirty="0"/>
              <a:t>–Present </a:t>
            </a:r>
            <a:r>
              <a:rPr dirty="0"/>
              <a:t>| </a:t>
            </a:r>
            <a:r>
              <a:rPr lang="en-US" sz="900" dirty="0"/>
              <a:t>Accounts Manager for B2B and </a:t>
            </a:r>
            <a:r>
              <a:rPr lang="en-US" sz="900" dirty="0" err="1"/>
              <a:t>B_Partner</a:t>
            </a:r>
            <a:r>
              <a:rPr lang="en-US" sz="900" dirty="0"/>
              <a:t> Sectors</a:t>
            </a:r>
            <a:endParaRPr sz="900" dirty="0"/>
          </a:p>
        </p:txBody>
      </p:sp>
      <p:sp>
        <p:nvSpPr>
          <p:cNvPr id="76" name="Content Placeholder 2">
            <a:extLst>
              <a:ext uri="{FF2B5EF4-FFF2-40B4-BE49-F238E27FC236}">
                <a16:creationId xmlns:a16="http://schemas.microsoft.com/office/drawing/2014/main" id="{191D09D9-7037-4BAE-8495-595FC74E555E}"/>
              </a:ext>
            </a:extLst>
          </p:cNvPr>
          <p:cNvSpPr txBox="1">
            <a:spLocks/>
          </p:cNvSpPr>
          <p:nvPr/>
        </p:nvSpPr>
        <p:spPr>
          <a:xfrm>
            <a:off x="3598592" y="5384454"/>
            <a:ext cx="2550725" cy="1204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Support partners to Growing topline and achieving B2B (1.1 Bn) - </a:t>
            </a:r>
            <a:r>
              <a:rPr lang="en-US" sz="800" dirty="0" err="1"/>
              <a:t>B_partner</a:t>
            </a:r>
            <a:r>
              <a:rPr lang="en-US" sz="800" dirty="0"/>
              <a:t>  (1.1 Bn)</a:t>
            </a:r>
          </a:p>
          <a:p>
            <a:r>
              <a:rPr lang="en-US" sz="800" dirty="0"/>
              <a:t>Support partners B2B &amp; </a:t>
            </a:r>
            <a:r>
              <a:rPr lang="en-US" sz="800" dirty="0" err="1"/>
              <a:t>B_partner</a:t>
            </a:r>
            <a:r>
              <a:rPr lang="en-US" sz="800" dirty="0"/>
              <a:t> to enhance their Cash Flow by achieving targeted collections</a:t>
            </a:r>
          </a:p>
          <a:p>
            <a:r>
              <a:rPr lang="en-US" sz="800" dirty="0"/>
              <a:t>Retain Top Performers: 100%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054EB65-3A34-4F58-89DD-7D465F630826}"/>
              </a:ext>
            </a:extLst>
          </p:cNvPr>
          <p:cNvSpPr txBox="1"/>
          <p:nvPr/>
        </p:nvSpPr>
        <p:spPr>
          <a:xfrm>
            <a:off x="7093659" y="349544"/>
            <a:ext cx="23037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lang="en-US" sz="800" dirty="0"/>
              <a:t>1999–2004 | Accountant (banks-GL-Purchase)</a:t>
            </a:r>
          </a:p>
          <a:p>
            <a:pPr>
              <a:defRPr sz="1600"/>
            </a:pPr>
            <a:r>
              <a:rPr lang="en-US" sz="800" dirty="0"/>
              <a:t>2005-2005 | Sales Accounts Section Head</a:t>
            </a:r>
          </a:p>
          <a:p>
            <a:pPr algn="l">
              <a:defRPr sz="1600"/>
            </a:pPr>
            <a:r>
              <a:rPr sz="800" dirty="0"/>
              <a:t>200</a:t>
            </a:r>
            <a:r>
              <a:rPr lang="en-US" sz="800" dirty="0"/>
              <a:t>6</a:t>
            </a:r>
            <a:r>
              <a:rPr sz="800" dirty="0"/>
              <a:t>–200</a:t>
            </a:r>
            <a:r>
              <a:rPr lang="en-US" sz="800" dirty="0"/>
              <a:t>9</a:t>
            </a:r>
            <a:r>
              <a:rPr sz="800" dirty="0"/>
              <a:t> | </a:t>
            </a:r>
            <a:r>
              <a:rPr lang="en-US" sz="800" dirty="0"/>
              <a:t>Treasury Dept Manager</a:t>
            </a:r>
            <a:endParaRPr sz="800" dirty="0"/>
          </a:p>
          <a:p>
            <a:pPr algn="l">
              <a:defRPr sz="1600"/>
            </a:pPr>
            <a:r>
              <a:rPr sz="800" dirty="0"/>
              <a:t>20</a:t>
            </a:r>
            <a:r>
              <a:rPr lang="en-US" sz="800" dirty="0"/>
              <a:t>10</a:t>
            </a:r>
            <a:r>
              <a:rPr sz="800" dirty="0"/>
              <a:t>–20</a:t>
            </a:r>
            <a:r>
              <a:rPr lang="en-US" sz="800" dirty="0"/>
              <a:t>12</a:t>
            </a:r>
            <a:r>
              <a:rPr sz="800" dirty="0"/>
              <a:t> | </a:t>
            </a:r>
            <a:r>
              <a:rPr lang="en-US" sz="800" dirty="0"/>
              <a:t>Budgeting &amp; Reporting Dept Manager</a:t>
            </a:r>
            <a:endParaRPr sz="800" dirty="0"/>
          </a:p>
          <a:p>
            <a:pPr algn="l">
              <a:defRPr sz="1600"/>
            </a:pPr>
            <a:r>
              <a:rPr sz="800" dirty="0"/>
              <a:t>201</a:t>
            </a:r>
            <a:r>
              <a:rPr lang="en-US" sz="800" dirty="0"/>
              <a:t>3</a:t>
            </a:r>
            <a:r>
              <a:rPr sz="800" dirty="0"/>
              <a:t>–20</a:t>
            </a:r>
            <a:r>
              <a:rPr lang="en-US" sz="800" dirty="0"/>
              <a:t>21</a:t>
            </a:r>
            <a:r>
              <a:rPr sz="800" dirty="0"/>
              <a:t> | </a:t>
            </a:r>
            <a:r>
              <a:rPr lang="en-US" sz="800" dirty="0"/>
              <a:t>Commercial Agencies Accounts Dept Manager </a:t>
            </a:r>
          </a:p>
          <a:p>
            <a:pPr algn="l">
              <a:defRPr sz="1600"/>
            </a:pPr>
            <a:r>
              <a:rPr sz="800" dirty="0"/>
              <a:t>20</a:t>
            </a:r>
            <a:r>
              <a:rPr lang="en-US" sz="800" dirty="0"/>
              <a:t>22</a:t>
            </a:r>
            <a:r>
              <a:rPr sz="800" dirty="0"/>
              <a:t>–2023 | </a:t>
            </a:r>
            <a:r>
              <a:rPr lang="en-US" sz="800" dirty="0"/>
              <a:t>FP&amp;A Business Partner (Commercial-Deelz</a:t>
            </a:r>
            <a:endParaRPr sz="800" dirty="0"/>
          </a:p>
          <a:p>
            <a:pPr algn="l">
              <a:defRPr sz="1600"/>
            </a:pPr>
            <a:r>
              <a:rPr sz="800" dirty="0"/>
              <a:t>202</a:t>
            </a:r>
            <a:r>
              <a:rPr lang="en-US" sz="800" dirty="0"/>
              <a:t>3</a:t>
            </a:r>
            <a:r>
              <a:rPr sz="800" dirty="0"/>
              <a:t>–202</a:t>
            </a:r>
            <a:r>
              <a:rPr lang="en-US" sz="800" dirty="0"/>
              <a:t>4</a:t>
            </a:r>
            <a:r>
              <a:rPr sz="800" dirty="0"/>
              <a:t> | </a:t>
            </a:r>
            <a:r>
              <a:rPr lang="en-US" sz="800" dirty="0"/>
              <a:t>FP&amp;A Business Partner (Commercial-Deelz-B2B)</a:t>
            </a:r>
            <a:endParaRPr sz="800" dirty="0"/>
          </a:p>
          <a:p>
            <a:pPr algn="l">
              <a:defRPr sz="1600"/>
            </a:pPr>
            <a:r>
              <a:rPr lang="en-US" sz="800" dirty="0"/>
              <a:t>2024</a:t>
            </a:r>
            <a:r>
              <a:rPr sz="800" dirty="0"/>
              <a:t>–Present | </a:t>
            </a:r>
            <a:r>
              <a:rPr lang="en-US" sz="800" dirty="0"/>
              <a:t>FP&amp;A Sr. Business Partner (B2B Channels and A.S. Service)</a:t>
            </a:r>
            <a:endParaRPr sz="800" dirty="0"/>
          </a:p>
        </p:txBody>
      </p: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2808BCC2-A76B-4CBA-8B35-D9DDC0C2C705}"/>
              </a:ext>
            </a:extLst>
          </p:cNvPr>
          <p:cNvSpPr txBox="1">
            <a:spLocks/>
          </p:cNvSpPr>
          <p:nvPr/>
        </p:nvSpPr>
        <p:spPr>
          <a:xfrm>
            <a:off x="9478914" y="323332"/>
            <a:ext cx="2537321" cy="14465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Support partners(Commercial - </a:t>
            </a:r>
            <a:r>
              <a:rPr lang="en-US" sz="800" dirty="0" err="1"/>
              <a:t>Deelz</a:t>
            </a:r>
            <a:r>
              <a:rPr lang="en-US" sz="800" dirty="0"/>
              <a:t> - B2B - </a:t>
            </a:r>
            <a:r>
              <a:rPr lang="en-US" sz="800" dirty="0" err="1"/>
              <a:t>B.Partner</a:t>
            </a:r>
            <a:r>
              <a:rPr lang="en-US" sz="800" dirty="0"/>
              <a:t> - Tech care - Service ) Achieving target topline and Gross profit. </a:t>
            </a:r>
          </a:p>
          <a:p>
            <a:r>
              <a:rPr lang="en-US" sz="800" dirty="0"/>
              <a:t>Support partners (Commercial - </a:t>
            </a:r>
            <a:r>
              <a:rPr lang="en-US" sz="800" dirty="0" err="1"/>
              <a:t>Deelz</a:t>
            </a:r>
            <a:r>
              <a:rPr lang="en-US" sz="800" dirty="0"/>
              <a:t> - B2B - </a:t>
            </a:r>
            <a:r>
              <a:rPr lang="en-US" sz="800" dirty="0" err="1"/>
              <a:t>B.Partner</a:t>
            </a:r>
            <a:r>
              <a:rPr lang="en-US" sz="800" dirty="0"/>
              <a:t> - Tech care - Service )Achieving target bottom line </a:t>
            </a:r>
          </a:p>
          <a:p>
            <a:r>
              <a:rPr lang="en-US" sz="800" dirty="0"/>
              <a:t>Support partners (Commercial - </a:t>
            </a:r>
            <a:r>
              <a:rPr lang="en-US" sz="800" dirty="0" err="1"/>
              <a:t>Deelz</a:t>
            </a:r>
            <a:r>
              <a:rPr lang="en-US" sz="800" dirty="0"/>
              <a:t> - B2B - </a:t>
            </a:r>
            <a:r>
              <a:rPr lang="en-US" sz="800" dirty="0" err="1"/>
              <a:t>B.Partner</a:t>
            </a:r>
            <a:r>
              <a:rPr lang="en-US" sz="800" dirty="0"/>
              <a:t> - Tech care - Service ) to enhance their Cash Flow by achieving targeted collections</a:t>
            </a:r>
          </a:p>
          <a:p>
            <a:r>
              <a:rPr lang="en-US" sz="800" dirty="0"/>
              <a:t>Retain Top Performers: 100%</a:t>
            </a:r>
          </a:p>
        </p:txBody>
      </p:sp>
      <p:pic>
        <p:nvPicPr>
          <p:cNvPr id="4" name="Picture 3" descr="A person with a beard&#10;&#10;Description automatically generated">
            <a:extLst>
              <a:ext uri="{FF2B5EF4-FFF2-40B4-BE49-F238E27FC236}">
                <a16:creationId xmlns:a16="http://schemas.microsoft.com/office/drawing/2014/main" id="{B8B17D6A-871B-4266-81E4-E7DA63EB86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786" y="2151607"/>
            <a:ext cx="731520" cy="717829"/>
          </a:xfrm>
          <a:prstGeom prst="rect">
            <a:avLst/>
          </a:prstGeom>
        </p:spPr>
      </p:pic>
      <p:sp>
        <p:nvSpPr>
          <p:cNvPr id="110" name="Content Placeholder 2">
            <a:extLst>
              <a:ext uri="{FF2B5EF4-FFF2-40B4-BE49-F238E27FC236}">
                <a16:creationId xmlns:a16="http://schemas.microsoft.com/office/drawing/2014/main" id="{930CD62A-45C0-4A27-8EE4-16A4A070D0FC}"/>
              </a:ext>
            </a:extLst>
          </p:cNvPr>
          <p:cNvSpPr txBox="1">
            <a:spLocks/>
          </p:cNvSpPr>
          <p:nvPr/>
        </p:nvSpPr>
        <p:spPr>
          <a:xfrm>
            <a:off x="6587822" y="5343359"/>
            <a:ext cx="2610315" cy="1204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/>
              <a:t>Support partners to Growing topline and achieving Commercial (1,09Bn)</a:t>
            </a:r>
          </a:p>
          <a:p>
            <a:r>
              <a:rPr lang="en-US" sz="800" dirty="0"/>
              <a:t>Support partners Commercial to enhance their Cash Flow by achieving targeted collections</a:t>
            </a:r>
          </a:p>
          <a:p>
            <a:r>
              <a:rPr lang="en-US" sz="800" dirty="0"/>
              <a:t>Retain Top Performers: 100%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52D0FD9-1970-470A-8098-66A029B7A6CB}"/>
              </a:ext>
            </a:extLst>
          </p:cNvPr>
          <p:cNvSpPr txBox="1"/>
          <p:nvPr/>
        </p:nvSpPr>
        <p:spPr>
          <a:xfrm>
            <a:off x="6643735" y="3214865"/>
            <a:ext cx="26735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800" dirty="0"/>
              <a:t>2005–20</a:t>
            </a:r>
            <a:r>
              <a:rPr lang="en-US" sz="800" dirty="0"/>
              <a:t>10</a:t>
            </a:r>
            <a:r>
              <a:rPr sz="800" dirty="0"/>
              <a:t> | Branch Accountant</a:t>
            </a:r>
            <a:r>
              <a:rPr lang="en-US" sz="800" dirty="0"/>
              <a:t> - | AP Accountant</a:t>
            </a:r>
            <a:endParaRPr sz="800" dirty="0"/>
          </a:p>
          <a:p>
            <a:pPr algn="l">
              <a:defRPr sz="1600"/>
            </a:pPr>
            <a:r>
              <a:rPr sz="800" dirty="0"/>
              <a:t>201</a:t>
            </a:r>
            <a:r>
              <a:rPr lang="en-US" sz="800" dirty="0"/>
              <a:t>1</a:t>
            </a:r>
            <a:r>
              <a:rPr sz="800" dirty="0"/>
              <a:t>–201</a:t>
            </a:r>
            <a:r>
              <a:rPr lang="en-US" sz="800" dirty="0"/>
              <a:t>6</a:t>
            </a:r>
            <a:r>
              <a:rPr sz="800" dirty="0"/>
              <a:t> |</a:t>
            </a:r>
            <a:r>
              <a:rPr lang="en-US" sz="800" dirty="0"/>
              <a:t>Senior AP &amp; Commercial Inventory Accountant</a:t>
            </a:r>
            <a:endParaRPr sz="800" dirty="0"/>
          </a:p>
          <a:p>
            <a:pPr>
              <a:defRPr sz="1600"/>
            </a:pPr>
            <a:r>
              <a:rPr sz="800" dirty="0"/>
              <a:t>201</a:t>
            </a:r>
            <a:r>
              <a:rPr lang="en-US" sz="800" dirty="0"/>
              <a:t>7</a:t>
            </a:r>
            <a:r>
              <a:rPr sz="800" dirty="0"/>
              <a:t>–20</a:t>
            </a:r>
            <a:r>
              <a:rPr lang="en-US" sz="800" dirty="0"/>
              <a:t>23</a:t>
            </a:r>
            <a:r>
              <a:rPr sz="800" dirty="0"/>
              <a:t> | </a:t>
            </a:r>
            <a:r>
              <a:rPr lang="en-US" sz="800" dirty="0"/>
              <a:t>Inventory Manager</a:t>
            </a:r>
          </a:p>
          <a:p>
            <a:pPr algn="l">
              <a:defRPr sz="1600"/>
            </a:pPr>
            <a:r>
              <a:rPr sz="800" dirty="0"/>
              <a:t>20</a:t>
            </a:r>
            <a:r>
              <a:rPr lang="en-US" sz="800" dirty="0"/>
              <a:t>24–2025 </a:t>
            </a:r>
            <a:r>
              <a:rPr sz="800" dirty="0"/>
              <a:t>|</a:t>
            </a:r>
            <a:r>
              <a:rPr lang="en-US" sz="800" dirty="0"/>
              <a:t>Commercial, Deelz and B2B Financial Analyst Sr. Lead </a:t>
            </a:r>
            <a:endParaRPr sz="800" dirty="0"/>
          </a:p>
          <a:p>
            <a:pPr algn="l">
              <a:defRPr sz="1600"/>
            </a:pPr>
            <a:r>
              <a:rPr sz="800" dirty="0"/>
              <a:t>202</a:t>
            </a:r>
            <a:r>
              <a:rPr lang="en-US" sz="800" dirty="0"/>
              <a:t>6</a:t>
            </a:r>
            <a:r>
              <a:rPr sz="800" dirty="0"/>
              <a:t>–Present | </a:t>
            </a:r>
            <a:r>
              <a:rPr lang="en-US" sz="800" dirty="0"/>
              <a:t>Commercial A.R &amp; Revenue Accounts Manager</a:t>
            </a:r>
          </a:p>
          <a:p>
            <a:pPr algn="l">
              <a:defRPr sz="1600"/>
            </a:pPr>
            <a:endParaRPr sz="800" dirty="0"/>
          </a:p>
        </p:txBody>
      </p:sp>
      <p:sp>
        <p:nvSpPr>
          <p:cNvPr id="87" name="Text Placeholder 657">
            <a:extLst>
              <a:ext uri="{FF2B5EF4-FFF2-40B4-BE49-F238E27FC236}">
                <a16:creationId xmlns:a16="http://schemas.microsoft.com/office/drawing/2014/main" id="{1A16667F-5120-4494-867D-2CFAB51A6DB2}"/>
              </a:ext>
            </a:extLst>
          </p:cNvPr>
          <p:cNvSpPr txBox="1">
            <a:spLocks/>
          </p:cNvSpPr>
          <p:nvPr/>
        </p:nvSpPr>
        <p:spPr>
          <a:xfrm>
            <a:off x="442626" y="4251573"/>
            <a:ext cx="11697757" cy="743375"/>
          </a:xfrm>
          <a:prstGeom prst="rect">
            <a:avLst/>
          </a:prstGeom>
          <a:solidFill>
            <a:srgbClr val="00B0F0">
              <a:lumMod val="20000"/>
              <a:lumOff val="80000"/>
            </a:srgbClr>
          </a:solidFill>
        </p:spPr>
        <p:txBody>
          <a:bodyPr vert="horz" lIns="182880" tIns="137160" rIns="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1" kern="120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u="sng" dirty="0"/>
              <a:t>Key initiatives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3B7B5A0-E90F-4806-97A7-39732D896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51663" y="4467893"/>
            <a:ext cx="93544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/>
        </p:spPr>
      </p:cxnSp>
      <p:sp>
        <p:nvSpPr>
          <p:cNvPr id="106" name="Card1Text">
            <a:extLst>
              <a:ext uri="{FF2B5EF4-FFF2-40B4-BE49-F238E27FC236}">
                <a16:creationId xmlns:a16="http://schemas.microsoft.com/office/drawing/2014/main" id="{22A16E16-AB37-4755-92E6-CE31507AFDB0}"/>
              </a:ext>
            </a:extLst>
          </p:cNvPr>
          <p:cNvSpPr/>
          <p:nvPr/>
        </p:nvSpPr>
        <p:spPr>
          <a:xfrm>
            <a:off x="513231" y="4418530"/>
            <a:ext cx="2936629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Power BI Dashboards</a:t>
            </a:r>
          </a:p>
          <a:p>
            <a:pPr algn="l">
              <a:buNone/>
            </a:pPr>
            <a:r>
              <a:rPr lang="en-US" sz="900" dirty="0">
                <a:latin typeface="Calibri"/>
              </a:rPr>
              <a:t>Transforming all reports from Excel to dynamic dashboards</a:t>
            </a:r>
          </a:p>
        </p:txBody>
      </p:sp>
      <p:sp>
        <p:nvSpPr>
          <p:cNvPr id="112" name="Card2Text">
            <a:extLst>
              <a:ext uri="{FF2B5EF4-FFF2-40B4-BE49-F238E27FC236}">
                <a16:creationId xmlns:a16="http://schemas.microsoft.com/office/drawing/2014/main" id="{9CB4C65F-F17C-40DF-99E9-A7718BD80CBC}"/>
              </a:ext>
            </a:extLst>
          </p:cNvPr>
          <p:cNvSpPr/>
          <p:nvPr/>
        </p:nvSpPr>
        <p:spPr>
          <a:xfrm>
            <a:off x="6534078" y="4294019"/>
            <a:ext cx="2991862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Electronic Archive</a:t>
            </a:r>
          </a:p>
          <a:p>
            <a:pPr algn="l">
              <a:buNone/>
            </a:pPr>
            <a:r>
              <a:rPr lang="en-US" sz="900" dirty="0">
                <a:latin typeface="Calibri"/>
              </a:rPr>
              <a:t>All commercial invoices &amp; receipts from 2020 to today</a:t>
            </a:r>
          </a:p>
        </p:txBody>
      </p:sp>
      <p:sp>
        <p:nvSpPr>
          <p:cNvPr id="113" name="Card3Text">
            <a:extLst>
              <a:ext uri="{FF2B5EF4-FFF2-40B4-BE49-F238E27FC236}">
                <a16:creationId xmlns:a16="http://schemas.microsoft.com/office/drawing/2014/main" id="{57CA4B76-41DD-427C-A4B9-874691F7A962}"/>
              </a:ext>
            </a:extLst>
          </p:cNvPr>
          <p:cNvSpPr/>
          <p:nvPr/>
        </p:nvSpPr>
        <p:spPr>
          <a:xfrm>
            <a:off x="3695648" y="4285293"/>
            <a:ext cx="2824234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Coupon Redemption System</a:t>
            </a:r>
          </a:p>
          <a:p>
            <a:pPr algn="l">
              <a:buNone/>
            </a:pPr>
            <a:r>
              <a:rPr lang="en-US" sz="900" dirty="0">
                <a:latin typeface="Calibri"/>
              </a:rPr>
              <a:t>Automated coupon redemption tracking system</a:t>
            </a:r>
          </a:p>
        </p:txBody>
      </p:sp>
      <p:sp>
        <p:nvSpPr>
          <p:cNvPr id="114" name="Card3Text">
            <a:extLst>
              <a:ext uri="{FF2B5EF4-FFF2-40B4-BE49-F238E27FC236}">
                <a16:creationId xmlns:a16="http://schemas.microsoft.com/office/drawing/2014/main" id="{8E13B02E-9E32-44E8-8A6B-4A48D4C2C1AD}"/>
              </a:ext>
            </a:extLst>
          </p:cNvPr>
          <p:cNvSpPr/>
          <p:nvPr/>
        </p:nvSpPr>
        <p:spPr>
          <a:xfrm>
            <a:off x="9485303" y="4631701"/>
            <a:ext cx="2745683" cy="58055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</a:rPr>
              <a:t>AX Microsoft Dynamics Implementation</a:t>
            </a:r>
            <a:br>
              <a:rPr lang="en-US" sz="1200" dirty="0"/>
            </a:br>
            <a:r>
              <a:rPr lang="en-US" sz="900" dirty="0"/>
              <a:t>Finance process transformation support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900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90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62744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A2554A-BD73-5142-860A-B885AFF207FA}"/>
              </a:ext>
            </a:extLst>
          </p:cNvPr>
          <p:cNvSpPr txBox="1">
            <a:spLocks/>
          </p:cNvSpPr>
          <p:nvPr/>
        </p:nvSpPr>
        <p:spPr>
          <a:xfrm>
            <a:off x="113689" y="105956"/>
            <a:ext cx="4180910" cy="378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Impact" panose="020B0806030902050204" pitchFamily="34" charset="0"/>
              </a:rPr>
              <a:t>Trade Performance Insights</a:t>
            </a:r>
            <a:endParaRPr lang="en-EG" sz="2800" dirty="0">
              <a:latin typeface="Impact" panose="020B080603090205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15D00E-1D5F-4D5E-9144-043C8FA29606}"/>
              </a:ext>
            </a:extLst>
          </p:cNvPr>
          <p:cNvSpPr txBox="1">
            <a:spLocks/>
          </p:cNvSpPr>
          <p:nvPr/>
        </p:nvSpPr>
        <p:spPr>
          <a:xfrm>
            <a:off x="3671636" y="6157742"/>
            <a:ext cx="4704892" cy="55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/>
              <a:t>FY’26 Latest Estimate vs. Original Budget’26</a:t>
            </a:r>
            <a:endParaRPr lang="en-EG" sz="2000" dirty="0">
              <a:latin typeface="Impact" panose="020B080603090205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80F4C-30DD-420B-B246-A8426BE51BE0}"/>
              </a:ext>
            </a:extLst>
          </p:cNvPr>
          <p:cNvSpPr txBox="1"/>
          <p:nvPr/>
        </p:nvSpPr>
        <p:spPr>
          <a:xfrm>
            <a:off x="113689" y="665662"/>
            <a:ext cx="65850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Head of Channel: Ahmed Abdel Monsef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BE347B-734D-43F5-8E00-4926E2038939}"/>
              </a:ext>
            </a:extLst>
          </p:cNvPr>
          <p:cNvSpPr txBox="1"/>
          <p:nvPr/>
        </p:nvSpPr>
        <p:spPr>
          <a:xfrm>
            <a:off x="7529581" y="246759"/>
            <a:ext cx="4704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00" b="1" dirty="0">
                <a:solidFill>
                  <a:prstClr val="black"/>
                </a:solidFill>
              </a:rPr>
              <a:t>Insights: </a:t>
            </a:r>
            <a:r>
              <a:rPr lang="en-US" sz="1600" dirty="0">
                <a:solidFill>
                  <a:prstClr val="black"/>
                </a:solidFill>
              </a:rPr>
              <a:t>Actuals achieved 103% of sales budget and 102% of GP budget mainly driven by Ariston and Indesit sales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F93C91-2829-46FC-B0F4-A28C21290228}"/>
              </a:ext>
            </a:extLst>
          </p:cNvPr>
          <p:cNvCxnSpPr>
            <a:cxnSpLocks/>
          </p:cNvCxnSpPr>
          <p:nvPr/>
        </p:nvCxnSpPr>
        <p:spPr>
          <a:xfrm>
            <a:off x="2754147" y="1619769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AF6990B-4AB3-4BBD-95AE-FACCD1A065A8}"/>
              </a:ext>
            </a:extLst>
          </p:cNvPr>
          <p:cNvSpPr txBox="1"/>
          <p:nvPr/>
        </p:nvSpPr>
        <p:spPr>
          <a:xfrm>
            <a:off x="123291" y="385258"/>
            <a:ext cx="6107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Commercial Sales Distribution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AE3C52-5C70-46CF-969C-7322FD00E2F7}"/>
              </a:ext>
            </a:extLst>
          </p:cNvPr>
          <p:cNvCxnSpPr>
            <a:cxnSpLocks/>
          </p:cNvCxnSpPr>
          <p:nvPr/>
        </p:nvCxnSpPr>
        <p:spPr>
          <a:xfrm>
            <a:off x="9429964" y="1619769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54019C-39C3-4466-AE6E-D809DD4B3F4F}"/>
              </a:ext>
            </a:extLst>
          </p:cNvPr>
          <p:cNvCxnSpPr>
            <a:cxnSpLocks/>
          </p:cNvCxnSpPr>
          <p:nvPr/>
        </p:nvCxnSpPr>
        <p:spPr>
          <a:xfrm>
            <a:off x="5001436" y="1609495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66608B-BB61-4A21-91A0-BD27905F4F08}"/>
              </a:ext>
            </a:extLst>
          </p:cNvPr>
          <p:cNvCxnSpPr>
            <a:cxnSpLocks/>
          </p:cNvCxnSpPr>
          <p:nvPr/>
        </p:nvCxnSpPr>
        <p:spPr>
          <a:xfrm>
            <a:off x="7227872" y="1619769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B50707-5C55-433F-AF7B-EC2C8D1FF99C}"/>
              </a:ext>
            </a:extLst>
          </p:cNvPr>
          <p:cNvCxnSpPr>
            <a:cxnSpLocks/>
          </p:cNvCxnSpPr>
          <p:nvPr/>
        </p:nvCxnSpPr>
        <p:spPr>
          <a:xfrm>
            <a:off x="1027417" y="3120086"/>
            <a:ext cx="10407721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DDC4B8C-BC57-401C-AB29-6972185B1981}"/>
              </a:ext>
            </a:extLst>
          </p:cNvPr>
          <p:cNvSpPr txBox="1"/>
          <p:nvPr/>
        </p:nvSpPr>
        <p:spPr>
          <a:xfrm>
            <a:off x="7553723" y="3184105"/>
            <a:ext cx="4704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00" b="1" dirty="0">
                <a:solidFill>
                  <a:prstClr val="black"/>
                </a:solidFill>
              </a:rPr>
              <a:t>Insights: </a:t>
            </a:r>
            <a:r>
              <a:rPr lang="en-US" sz="1600" dirty="0">
                <a:solidFill>
                  <a:prstClr val="black"/>
                </a:solidFill>
              </a:rPr>
              <a:t>Actuals achieved 146% of sales budget and 162% of GP budget mainly driven by MDA and TV inside stores in Jan.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F00C85-8F6E-4823-A787-0EE864A3A3CB}"/>
              </a:ext>
            </a:extLst>
          </p:cNvPr>
          <p:cNvSpPr txBox="1"/>
          <p:nvPr/>
        </p:nvSpPr>
        <p:spPr>
          <a:xfrm>
            <a:off x="275691" y="3222427"/>
            <a:ext cx="6107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Deelz</a:t>
            </a:r>
            <a:endParaRPr lang="en-US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B82BDB-27DF-415C-984A-269DD260DC8D}"/>
              </a:ext>
            </a:extLst>
          </p:cNvPr>
          <p:cNvSpPr txBox="1"/>
          <p:nvPr/>
        </p:nvSpPr>
        <p:spPr>
          <a:xfrm>
            <a:off x="275691" y="3556286"/>
            <a:ext cx="698813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Head of Channel: Ismail Sabry</a:t>
            </a:r>
          </a:p>
          <a:p>
            <a:pPr algn="l"/>
            <a:endParaRPr lang="en-US" sz="2000" b="1" dirty="0"/>
          </a:p>
          <a:p>
            <a:br>
              <a:rPr lang="en-US" dirty="0"/>
            </a:br>
            <a:endParaRPr lang="en-US" b="1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A0B577B-6CE9-4340-9A89-6441C00178DB}"/>
              </a:ext>
            </a:extLst>
          </p:cNvPr>
          <p:cNvCxnSpPr>
            <a:cxnSpLocks/>
          </p:cNvCxnSpPr>
          <p:nvPr/>
        </p:nvCxnSpPr>
        <p:spPr>
          <a:xfrm>
            <a:off x="2847654" y="4722270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DA87F7-DFF0-4158-9637-7D34AB0A7F68}"/>
              </a:ext>
            </a:extLst>
          </p:cNvPr>
          <p:cNvCxnSpPr>
            <a:cxnSpLocks/>
          </p:cNvCxnSpPr>
          <p:nvPr/>
        </p:nvCxnSpPr>
        <p:spPr>
          <a:xfrm>
            <a:off x="7287801" y="4722270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635F03C-DC81-461D-9B24-46545D42B616}"/>
              </a:ext>
            </a:extLst>
          </p:cNvPr>
          <p:cNvCxnSpPr>
            <a:cxnSpLocks/>
          </p:cNvCxnSpPr>
          <p:nvPr/>
        </p:nvCxnSpPr>
        <p:spPr>
          <a:xfrm>
            <a:off x="9501885" y="4722270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C580782-52F8-43E0-A532-E9FC40C3FDB2}"/>
              </a:ext>
            </a:extLst>
          </p:cNvPr>
          <p:cNvCxnSpPr>
            <a:cxnSpLocks/>
          </p:cNvCxnSpPr>
          <p:nvPr/>
        </p:nvCxnSpPr>
        <p:spPr>
          <a:xfrm>
            <a:off x="5060359" y="4722270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1A88527-3998-40FA-B2CA-7A4A7DA16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483" y="665662"/>
            <a:ext cx="12192000" cy="2559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8DE040-6E72-437F-A682-25DE0CDC3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3839" y="3717671"/>
            <a:ext cx="12192000" cy="271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99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A2554A-BD73-5142-860A-B885AFF207FA}"/>
              </a:ext>
            </a:extLst>
          </p:cNvPr>
          <p:cNvSpPr txBox="1">
            <a:spLocks/>
          </p:cNvSpPr>
          <p:nvPr/>
        </p:nvSpPr>
        <p:spPr>
          <a:xfrm>
            <a:off x="113689" y="105956"/>
            <a:ext cx="4180910" cy="378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Impact" panose="020B0806030902050204" pitchFamily="34" charset="0"/>
              </a:rPr>
              <a:t>Trade Performance Insights</a:t>
            </a:r>
            <a:endParaRPr lang="en-EG" sz="2800" dirty="0">
              <a:latin typeface="Impact" panose="020B080603090205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15D00E-1D5F-4D5E-9144-043C8FA29606}"/>
              </a:ext>
            </a:extLst>
          </p:cNvPr>
          <p:cNvSpPr txBox="1">
            <a:spLocks/>
          </p:cNvSpPr>
          <p:nvPr/>
        </p:nvSpPr>
        <p:spPr>
          <a:xfrm>
            <a:off x="3743554" y="6075550"/>
            <a:ext cx="4704892" cy="55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/>
              <a:t>FY’26 Latest Estimate vs. Original Budget’26</a:t>
            </a:r>
            <a:endParaRPr lang="en-EG" sz="2000" dirty="0">
              <a:latin typeface="Impact" panose="020B080603090205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80F4C-30DD-420B-B246-A8426BE51BE0}"/>
              </a:ext>
            </a:extLst>
          </p:cNvPr>
          <p:cNvSpPr txBox="1"/>
          <p:nvPr/>
        </p:nvSpPr>
        <p:spPr>
          <a:xfrm>
            <a:off x="113689" y="665662"/>
            <a:ext cx="65850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Head of Channel: Mohamed Abdelhamid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BE347B-734D-43F5-8E00-4926E2038939}"/>
              </a:ext>
            </a:extLst>
          </p:cNvPr>
          <p:cNvSpPr txBox="1"/>
          <p:nvPr/>
        </p:nvSpPr>
        <p:spPr>
          <a:xfrm>
            <a:off x="7535880" y="125922"/>
            <a:ext cx="4704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00" b="1" dirty="0">
                <a:solidFill>
                  <a:prstClr val="black"/>
                </a:solidFill>
              </a:rPr>
              <a:t>Insights: </a:t>
            </a:r>
            <a:r>
              <a:rPr lang="en-US" sz="1600" dirty="0">
                <a:solidFill>
                  <a:prstClr val="black"/>
                </a:solidFill>
              </a:rPr>
              <a:t>Actuals achieved 109% of the sales budget, and 121% of the GP budget driven by TV sales and B2B Items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F93C91-2829-46FC-B0F4-A28C21290228}"/>
              </a:ext>
            </a:extLst>
          </p:cNvPr>
          <p:cNvCxnSpPr>
            <a:cxnSpLocks/>
          </p:cNvCxnSpPr>
          <p:nvPr/>
        </p:nvCxnSpPr>
        <p:spPr>
          <a:xfrm>
            <a:off x="4951105" y="1819530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AF6990B-4AB3-4BBD-95AE-FACCD1A065A8}"/>
              </a:ext>
            </a:extLst>
          </p:cNvPr>
          <p:cNvSpPr txBox="1"/>
          <p:nvPr/>
        </p:nvSpPr>
        <p:spPr>
          <a:xfrm>
            <a:off x="123291" y="385258"/>
            <a:ext cx="6107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B.TECH Business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AE3C52-5C70-46CF-969C-7322FD00E2F7}"/>
              </a:ext>
            </a:extLst>
          </p:cNvPr>
          <p:cNvCxnSpPr>
            <a:cxnSpLocks/>
          </p:cNvCxnSpPr>
          <p:nvPr/>
        </p:nvCxnSpPr>
        <p:spPr>
          <a:xfrm>
            <a:off x="7138828" y="1819530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54019C-39C3-4466-AE6E-D809DD4B3F4F}"/>
              </a:ext>
            </a:extLst>
          </p:cNvPr>
          <p:cNvCxnSpPr>
            <a:cxnSpLocks/>
          </p:cNvCxnSpPr>
          <p:nvPr/>
        </p:nvCxnSpPr>
        <p:spPr>
          <a:xfrm>
            <a:off x="9349117" y="1819530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66608B-BB61-4A21-91A0-BD27905F4F08}"/>
              </a:ext>
            </a:extLst>
          </p:cNvPr>
          <p:cNvCxnSpPr>
            <a:cxnSpLocks/>
          </p:cNvCxnSpPr>
          <p:nvPr/>
        </p:nvCxnSpPr>
        <p:spPr>
          <a:xfrm>
            <a:off x="2687362" y="1819530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B50707-5C55-433F-AF7B-EC2C8D1FF99C}"/>
              </a:ext>
            </a:extLst>
          </p:cNvPr>
          <p:cNvCxnSpPr>
            <a:cxnSpLocks/>
          </p:cNvCxnSpPr>
          <p:nvPr/>
        </p:nvCxnSpPr>
        <p:spPr>
          <a:xfrm>
            <a:off x="1027417" y="3120086"/>
            <a:ext cx="10407721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DDC4B8C-BC57-401C-AB29-6972185B1981}"/>
              </a:ext>
            </a:extLst>
          </p:cNvPr>
          <p:cNvSpPr txBox="1"/>
          <p:nvPr/>
        </p:nvSpPr>
        <p:spPr>
          <a:xfrm>
            <a:off x="7681981" y="3235624"/>
            <a:ext cx="4704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00" b="1" dirty="0">
                <a:solidFill>
                  <a:prstClr val="black"/>
                </a:solidFill>
              </a:rPr>
              <a:t>Insights: </a:t>
            </a:r>
            <a:r>
              <a:rPr lang="en-US" sz="1600" dirty="0">
                <a:solidFill>
                  <a:prstClr val="black"/>
                </a:solidFill>
              </a:rPr>
              <a:t>Actuals achieved 124% of the sales budget, and 145% of the GP budget driven by MDA, TV and Mobile sales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F00C85-8F6E-4823-A787-0EE864A3A3CB}"/>
              </a:ext>
            </a:extLst>
          </p:cNvPr>
          <p:cNvSpPr txBox="1"/>
          <p:nvPr/>
        </p:nvSpPr>
        <p:spPr>
          <a:xfrm>
            <a:off x="275691" y="3222427"/>
            <a:ext cx="6107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 err="1"/>
              <a:t>B.Partner</a:t>
            </a:r>
            <a:endParaRPr lang="en-US" sz="20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B82BDB-27DF-415C-984A-269DD260DC8D}"/>
              </a:ext>
            </a:extLst>
          </p:cNvPr>
          <p:cNvSpPr txBox="1"/>
          <p:nvPr/>
        </p:nvSpPr>
        <p:spPr>
          <a:xfrm>
            <a:off x="275691" y="3556286"/>
            <a:ext cx="698813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Head of Channel: Wael </a:t>
            </a:r>
            <a:r>
              <a:rPr lang="en-US" sz="2000" b="1" dirty="0" err="1"/>
              <a:t>Enani</a:t>
            </a:r>
            <a:endParaRPr lang="en-US" sz="2000" b="1" dirty="0"/>
          </a:p>
          <a:p>
            <a:pPr algn="l"/>
            <a:endParaRPr lang="en-US" sz="2000" b="1" dirty="0"/>
          </a:p>
          <a:p>
            <a:br>
              <a:rPr lang="en-US" dirty="0"/>
            </a:br>
            <a:endParaRPr lang="en-US" b="1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A0B577B-6CE9-4340-9A89-6441C00178DB}"/>
              </a:ext>
            </a:extLst>
          </p:cNvPr>
          <p:cNvCxnSpPr>
            <a:cxnSpLocks/>
          </p:cNvCxnSpPr>
          <p:nvPr/>
        </p:nvCxnSpPr>
        <p:spPr>
          <a:xfrm>
            <a:off x="2703443" y="4684606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DA87F7-DFF0-4158-9637-7D34AB0A7F68}"/>
              </a:ext>
            </a:extLst>
          </p:cNvPr>
          <p:cNvCxnSpPr>
            <a:cxnSpLocks/>
          </p:cNvCxnSpPr>
          <p:nvPr/>
        </p:nvCxnSpPr>
        <p:spPr>
          <a:xfrm>
            <a:off x="7149102" y="4684606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635F03C-DC81-461D-9B24-46545D42B616}"/>
              </a:ext>
            </a:extLst>
          </p:cNvPr>
          <p:cNvCxnSpPr>
            <a:cxnSpLocks/>
          </p:cNvCxnSpPr>
          <p:nvPr/>
        </p:nvCxnSpPr>
        <p:spPr>
          <a:xfrm>
            <a:off x="9378900" y="4684606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C580782-52F8-43E0-A532-E9FC40C3FDB2}"/>
              </a:ext>
            </a:extLst>
          </p:cNvPr>
          <p:cNvCxnSpPr>
            <a:cxnSpLocks/>
          </p:cNvCxnSpPr>
          <p:nvPr/>
        </p:nvCxnSpPr>
        <p:spPr>
          <a:xfrm>
            <a:off x="4951105" y="4684606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C7D3034-8101-4ACD-BF4F-F21BDCE7D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5691" y="508330"/>
            <a:ext cx="12192000" cy="2714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2D9A49-F3CC-4F3A-AE16-EBB0793FB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5143" y="3652476"/>
            <a:ext cx="12192000" cy="271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53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A2554A-BD73-5142-860A-B885AFF207FA}"/>
              </a:ext>
            </a:extLst>
          </p:cNvPr>
          <p:cNvSpPr txBox="1">
            <a:spLocks/>
          </p:cNvSpPr>
          <p:nvPr/>
        </p:nvSpPr>
        <p:spPr>
          <a:xfrm>
            <a:off x="113689" y="105956"/>
            <a:ext cx="4180910" cy="378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latin typeface="Impact" panose="020B0806030902050204" pitchFamily="34" charset="0"/>
              </a:rPr>
              <a:t>Trade Performance Insights</a:t>
            </a:r>
            <a:endParaRPr lang="en-EG" sz="2800" dirty="0">
              <a:latin typeface="Impact" panose="020B080603090205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615D00E-1D5F-4D5E-9144-043C8FA29606}"/>
              </a:ext>
            </a:extLst>
          </p:cNvPr>
          <p:cNvSpPr txBox="1">
            <a:spLocks/>
          </p:cNvSpPr>
          <p:nvPr/>
        </p:nvSpPr>
        <p:spPr>
          <a:xfrm>
            <a:off x="3743554" y="6075550"/>
            <a:ext cx="4704892" cy="55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dirty="0"/>
              <a:t>FY’26 Latest Estimate vs. Original Budget’26</a:t>
            </a:r>
            <a:endParaRPr lang="en-EG" sz="2000" dirty="0">
              <a:latin typeface="Impact" panose="020B080603090205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80F4C-30DD-420B-B246-A8426BE51BE0}"/>
              </a:ext>
            </a:extLst>
          </p:cNvPr>
          <p:cNvSpPr txBox="1"/>
          <p:nvPr/>
        </p:nvSpPr>
        <p:spPr>
          <a:xfrm>
            <a:off x="113689" y="665662"/>
            <a:ext cx="65850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/>
              <a:t>Head of Channel: Omar Said</a:t>
            </a:r>
          </a:p>
          <a:p>
            <a:br>
              <a:rPr lang="en-US" dirty="0"/>
            </a:b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BE347B-734D-43F5-8E00-4926E2038939}"/>
              </a:ext>
            </a:extLst>
          </p:cNvPr>
          <p:cNvSpPr txBox="1"/>
          <p:nvPr/>
        </p:nvSpPr>
        <p:spPr>
          <a:xfrm>
            <a:off x="7529581" y="32370"/>
            <a:ext cx="4704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</a:rPr>
              <a:t>Insights: </a:t>
            </a:r>
            <a:r>
              <a:rPr lang="en-US" sz="1600" dirty="0">
                <a:solidFill>
                  <a:prstClr val="black"/>
                </a:solidFill>
              </a:rPr>
              <a:t>Actuals achieved 97% of sales budget and 102% of GP budget driven by favorable mix.</a:t>
            </a:r>
          </a:p>
          <a:p>
            <a:pPr lvl="0">
              <a:defRPr/>
            </a:pPr>
            <a:endParaRPr lang="en-US" sz="1600" dirty="0">
              <a:solidFill>
                <a:prstClr val="black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F93C91-2829-46FC-B0F4-A28C21290228}"/>
              </a:ext>
            </a:extLst>
          </p:cNvPr>
          <p:cNvCxnSpPr>
            <a:cxnSpLocks/>
          </p:cNvCxnSpPr>
          <p:nvPr/>
        </p:nvCxnSpPr>
        <p:spPr>
          <a:xfrm>
            <a:off x="5058312" y="1731395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AF6990B-4AB3-4BBD-95AE-FACCD1A065A8}"/>
              </a:ext>
            </a:extLst>
          </p:cNvPr>
          <p:cNvSpPr txBox="1"/>
          <p:nvPr/>
        </p:nvSpPr>
        <p:spPr>
          <a:xfrm>
            <a:off x="123291" y="385258"/>
            <a:ext cx="6107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TECH CARE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2AE3C52-5C70-46CF-969C-7322FD00E2F7}"/>
              </a:ext>
            </a:extLst>
          </p:cNvPr>
          <p:cNvCxnSpPr>
            <a:cxnSpLocks/>
          </p:cNvCxnSpPr>
          <p:nvPr/>
        </p:nvCxnSpPr>
        <p:spPr>
          <a:xfrm>
            <a:off x="7272392" y="1731395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54019C-39C3-4466-AE6E-D809DD4B3F4F}"/>
              </a:ext>
            </a:extLst>
          </p:cNvPr>
          <p:cNvCxnSpPr>
            <a:cxnSpLocks/>
          </p:cNvCxnSpPr>
          <p:nvPr/>
        </p:nvCxnSpPr>
        <p:spPr>
          <a:xfrm>
            <a:off x="2835667" y="1776014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B66608B-BB61-4A21-91A0-BD27905F4F08}"/>
              </a:ext>
            </a:extLst>
          </p:cNvPr>
          <p:cNvCxnSpPr>
            <a:cxnSpLocks/>
          </p:cNvCxnSpPr>
          <p:nvPr/>
        </p:nvCxnSpPr>
        <p:spPr>
          <a:xfrm>
            <a:off x="9508733" y="1731395"/>
            <a:ext cx="0" cy="918510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B50707-5C55-433F-AF7B-EC2C8D1FF99C}"/>
              </a:ext>
            </a:extLst>
          </p:cNvPr>
          <p:cNvCxnSpPr>
            <a:cxnSpLocks/>
          </p:cNvCxnSpPr>
          <p:nvPr/>
        </p:nvCxnSpPr>
        <p:spPr>
          <a:xfrm>
            <a:off x="1027417" y="3120086"/>
            <a:ext cx="10407721" cy="0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DDC4B8C-BC57-401C-AB29-6972185B1981}"/>
              </a:ext>
            </a:extLst>
          </p:cNvPr>
          <p:cNvSpPr txBox="1"/>
          <p:nvPr/>
        </p:nvSpPr>
        <p:spPr>
          <a:xfrm>
            <a:off x="7681981" y="3235624"/>
            <a:ext cx="4704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1600" b="1" dirty="0">
                <a:solidFill>
                  <a:prstClr val="black"/>
                </a:solidFill>
              </a:rPr>
              <a:t>Insights: </a:t>
            </a:r>
            <a:r>
              <a:rPr lang="en-US" sz="1600" dirty="0">
                <a:solidFill>
                  <a:prstClr val="black"/>
                </a:solidFill>
              </a:rPr>
              <a:t>Actuals achieved 95% of sales budget and 100% of GP budget driven by favorable mix.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F00C85-8F6E-4823-A787-0EE864A3A3CB}"/>
              </a:ext>
            </a:extLst>
          </p:cNvPr>
          <p:cNvSpPr txBox="1"/>
          <p:nvPr/>
        </p:nvSpPr>
        <p:spPr>
          <a:xfrm>
            <a:off x="275691" y="3222427"/>
            <a:ext cx="61079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After Sales Service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B82BDB-27DF-415C-984A-269DD260DC8D}"/>
              </a:ext>
            </a:extLst>
          </p:cNvPr>
          <p:cNvSpPr txBox="1"/>
          <p:nvPr/>
        </p:nvSpPr>
        <p:spPr>
          <a:xfrm>
            <a:off x="275691" y="3556286"/>
            <a:ext cx="698813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Head of Channel: Khaled </a:t>
            </a:r>
            <a:r>
              <a:rPr lang="en-US" sz="2000" b="1" dirty="0" err="1"/>
              <a:t>Aboelhamd</a:t>
            </a:r>
            <a:endParaRPr lang="en-US" sz="2000" b="1" dirty="0"/>
          </a:p>
          <a:p>
            <a:pPr algn="l"/>
            <a:endParaRPr lang="en-US" sz="2000" b="1" dirty="0"/>
          </a:p>
          <a:p>
            <a:br>
              <a:rPr lang="en-US" dirty="0"/>
            </a:br>
            <a:endParaRPr lang="en-US" b="1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A0B577B-6CE9-4340-9A89-6441C00178DB}"/>
              </a:ext>
            </a:extLst>
          </p:cNvPr>
          <p:cNvCxnSpPr>
            <a:cxnSpLocks/>
          </p:cNvCxnSpPr>
          <p:nvPr/>
        </p:nvCxnSpPr>
        <p:spPr>
          <a:xfrm>
            <a:off x="7498761" y="4847224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DA87F7-DFF0-4158-9637-7D34AB0A7F68}"/>
              </a:ext>
            </a:extLst>
          </p:cNvPr>
          <p:cNvCxnSpPr>
            <a:cxnSpLocks/>
          </p:cNvCxnSpPr>
          <p:nvPr/>
        </p:nvCxnSpPr>
        <p:spPr>
          <a:xfrm>
            <a:off x="9707367" y="4818170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635F03C-DC81-461D-9B24-46545D42B616}"/>
              </a:ext>
            </a:extLst>
          </p:cNvPr>
          <p:cNvCxnSpPr>
            <a:cxnSpLocks/>
          </p:cNvCxnSpPr>
          <p:nvPr/>
        </p:nvCxnSpPr>
        <p:spPr>
          <a:xfrm>
            <a:off x="3034304" y="4847224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C580782-52F8-43E0-A532-E9FC40C3FDB2}"/>
              </a:ext>
            </a:extLst>
          </p:cNvPr>
          <p:cNvCxnSpPr>
            <a:cxnSpLocks/>
          </p:cNvCxnSpPr>
          <p:nvPr/>
        </p:nvCxnSpPr>
        <p:spPr>
          <a:xfrm>
            <a:off x="5265843" y="4847224"/>
            <a:ext cx="0" cy="927392"/>
          </a:xfrm>
          <a:prstGeom prst="line">
            <a:avLst/>
          </a:prstGeom>
          <a:ln w="25400" cap="sq">
            <a:solidFill>
              <a:srgbClr val="FF0000">
                <a:alpha val="98000"/>
              </a:srgb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E56F19A-FCC7-4BD3-9EF8-C8E26A2B8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689" y="418966"/>
            <a:ext cx="12192000" cy="2714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2A4144-3110-46DB-A141-FF7155CA7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3" y="3545649"/>
            <a:ext cx="12192000" cy="271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61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27F792BB-FA7B-4C9A-984B-C41D76EF7B2F}"/>
              </a:ext>
            </a:extLst>
          </p:cNvPr>
          <p:cNvSpPr/>
          <p:nvPr/>
        </p:nvSpPr>
        <p:spPr>
          <a:xfrm>
            <a:off x="767672" y="428625"/>
            <a:ext cx="871537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latin typeface="Impact" panose="020B0806030902050204" pitchFamily="34" charset="0"/>
                <a:ea typeface="+mj-ea"/>
                <a:cs typeface="+mj-cs"/>
              </a:rPr>
              <a:t>FINANCIAL REPORTING MATRIX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1338B18-4440-4A97-9CCC-EE6D365B2F2E}"/>
              </a:ext>
            </a:extLst>
          </p:cNvPr>
          <p:cNvSpPr/>
          <p:nvPr/>
        </p:nvSpPr>
        <p:spPr>
          <a:xfrm>
            <a:off x="0" y="1078299"/>
            <a:ext cx="12192000" cy="71130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AECC0A29-37D6-4BAB-A382-E42AE9ABE19B}"/>
              </a:ext>
            </a:extLst>
          </p:cNvPr>
          <p:cNvSpPr/>
          <p:nvPr/>
        </p:nvSpPr>
        <p:spPr>
          <a:xfrm>
            <a:off x="548518" y="1103708"/>
            <a:ext cx="3655462" cy="492833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CEB5A4C-F03B-44C7-B310-D042B2727C74}"/>
              </a:ext>
            </a:extLst>
          </p:cNvPr>
          <p:cNvSpPr/>
          <p:nvPr/>
        </p:nvSpPr>
        <p:spPr>
          <a:xfrm>
            <a:off x="767673" y="1093435"/>
            <a:ext cx="3115958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REPORT NAME</a:t>
            </a: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81A82577-7D83-4458-96A9-28C0AEC12AEF}"/>
              </a:ext>
            </a:extLst>
          </p:cNvPr>
          <p:cNvSpPr/>
          <p:nvPr/>
        </p:nvSpPr>
        <p:spPr>
          <a:xfrm>
            <a:off x="4285325" y="1132198"/>
            <a:ext cx="2555341" cy="464344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04637816-3BAE-4BE6-BEB2-4DD969E75D35}"/>
              </a:ext>
            </a:extLst>
          </p:cNvPr>
          <p:cNvSpPr/>
          <p:nvPr/>
        </p:nvSpPr>
        <p:spPr>
          <a:xfrm flipH="1">
            <a:off x="7767235" y="456445"/>
            <a:ext cx="153306" cy="464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FAB81CF-F4CA-4F97-AE04-23FB8DC5F6E4}"/>
              </a:ext>
            </a:extLst>
          </p:cNvPr>
          <p:cNvSpPr/>
          <p:nvPr/>
        </p:nvSpPr>
        <p:spPr>
          <a:xfrm>
            <a:off x="4752497" y="1113864"/>
            <a:ext cx="1779931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FREQUENCY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82FE9BF-3D08-49B5-A18D-2A30C5B0622F}"/>
              </a:ext>
            </a:extLst>
          </p:cNvPr>
          <p:cNvSpPr/>
          <p:nvPr/>
        </p:nvSpPr>
        <p:spPr>
          <a:xfrm>
            <a:off x="6934122" y="1133932"/>
            <a:ext cx="2762259" cy="464344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94F248E1-E49A-426A-B1B3-574C8E464D18}"/>
              </a:ext>
            </a:extLst>
          </p:cNvPr>
          <p:cNvSpPr/>
          <p:nvPr/>
        </p:nvSpPr>
        <p:spPr>
          <a:xfrm>
            <a:off x="7714763" y="1133932"/>
            <a:ext cx="1779931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</a:rPr>
              <a:t>RECIPIENT</a:t>
            </a: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F52DF92C-A6A4-4237-BE9F-F04E86C81794}"/>
              </a:ext>
            </a:extLst>
          </p:cNvPr>
          <p:cNvSpPr/>
          <p:nvPr/>
        </p:nvSpPr>
        <p:spPr>
          <a:xfrm>
            <a:off x="9789670" y="1113864"/>
            <a:ext cx="1853812" cy="484412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4A75594-FCA2-403C-A9F2-3B3AE016D6D9}"/>
              </a:ext>
            </a:extLst>
          </p:cNvPr>
          <p:cNvSpPr/>
          <p:nvPr/>
        </p:nvSpPr>
        <p:spPr>
          <a:xfrm>
            <a:off x="10262366" y="1126569"/>
            <a:ext cx="1381116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TYPE</a:t>
            </a: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3D15B085-3401-4531-9FB9-9461B451D2B0}"/>
              </a:ext>
            </a:extLst>
          </p:cNvPr>
          <p:cNvSpPr/>
          <p:nvPr/>
        </p:nvSpPr>
        <p:spPr>
          <a:xfrm>
            <a:off x="874827" y="1675209"/>
            <a:ext cx="321840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sales Performance Report</a:t>
            </a:r>
            <a:endParaRPr lang="en-US" sz="14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7BF2F55-A69C-48BD-926B-C834D970337B}"/>
              </a:ext>
            </a:extLst>
          </p:cNvPr>
          <p:cNvSpPr/>
          <p:nvPr/>
        </p:nvSpPr>
        <p:spPr>
          <a:xfrm>
            <a:off x="7457407" y="1596541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&amp; Sector Heads</a:t>
            </a:r>
            <a:endParaRPr lang="en-US" sz="1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AC37E9-2BA2-4D05-B459-6AA1CCF9B0F7}"/>
              </a:ext>
            </a:extLst>
          </p:cNvPr>
          <p:cNvCxnSpPr>
            <a:cxnSpLocks/>
          </p:cNvCxnSpPr>
          <p:nvPr/>
        </p:nvCxnSpPr>
        <p:spPr>
          <a:xfrm flipH="1">
            <a:off x="4203980" y="1594001"/>
            <a:ext cx="40249" cy="48889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3AC0B7-C101-40D2-BC33-ED174CD52FC7}"/>
              </a:ext>
            </a:extLst>
          </p:cNvPr>
          <p:cNvCxnSpPr>
            <a:cxnSpLocks/>
          </p:cNvCxnSpPr>
          <p:nvPr/>
        </p:nvCxnSpPr>
        <p:spPr>
          <a:xfrm>
            <a:off x="548518" y="1594001"/>
            <a:ext cx="1109496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06E9F04-FC9B-4927-BEC1-0B1093A098A7}"/>
              </a:ext>
            </a:extLst>
          </p:cNvPr>
          <p:cNvCxnSpPr>
            <a:cxnSpLocks/>
          </p:cNvCxnSpPr>
          <p:nvPr/>
        </p:nvCxnSpPr>
        <p:spPr>
          <a:xfrm>
            <a:off x="6881762" y="1580736"/>
            <a:ext cx="0" cy="49022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549C3D6-F3F5-4208-B2B0-F7F267CB2557}"/>
              </a:ext>
            </a:extLst>
          </p:cNvPr>
          <p:cNvCxnSpPr>
            <a:cxnSpLocks/>
          </p:cNvCxnSpPr>
          <p:nvPr/>
        </p:nvCxnSpPr>
        <p:spPr>
          <a:xfrm>
            <a:off x="9744938" y="1581335"/>
            <a:ext cx="0" cy="49016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2A529E9-AE0C-48C3-9FCD-9AEC70A72595}"/>
              </a:ext>
            </a:extLst>
          </p:cNvPr>
          <p:cNvCxnSpPr>
            <a:cxnSpLocks/>
          </p:cNvCxnSpPr>
          <p:nvPr/>
        </p:nvCxnSpPr>
        <p:spPr>
          <a:xfrm>
            <a:off x="795097" y="2068363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76DC7D9-E225-4FB8-93F8-829F1A6F737D}"/>
              </a:ext>
            </a:extLst>
          </p:cNvPr>
          <p:cNvCxnSpPr>
            <a:cxnSpLocks/>
          </p:cNvCxnSpPr>
          <p:nvPr/>
        </p:nvCxnSpPr>
        <p:spPr>
          <a:xfrm>
            <a:off x="548518" y="2580359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77890C7-C5C4-49DB-8E8A-A728C1372AF4}"/>
              </a:ext>
            </a:extLst>
          </p:cNvPr>
          <p:cNvCxnSpPr>
            <a:cxnSpLocks/>
          </p:cNvCxnSpPr>
          <p:nvPr/>
        </p:nvCxnSpPr>
        <p:spPr>
          <a:xfrm>
            <a:off x="548518" y="308208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5A2F9F2-DB33-48DB-A926-EE8C3656286A}"/>
              </a:ext>
            </a:extLst>
          </p:cNvPr>
          <p:cNvCxnSpPr>
            <a:cxnSpLocks/>
          </p:cNvCxnSpPr>
          <p:nvPr/>
        </p:nvCxnSpPr>
        <p:spPr>
          <a:xfrm>
            <a:off x="548518" y="3631922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A196512-3E05-4FC4-8179-549A15E0C836}"/>
              </a:ext>
            </a:extLst>
          </p:cNvPr>
          <p:cNvCxnSpPr>
            <a:cxnSpLocks/>
          </p:cNvCxnSpPr>
          <p:nvPr/>
        </p:nvCxnSpPr>
        <p:spPr>
          <a:xfrm>
            <a:off x="548518" y="4159637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5E830C1-65A0-4259-9C38-045AD0340A6C}"/>
              </a:ext>
            </a:extLst>
          </p:cNvPr>
          <p:cNvCxnSpPr>
            <a:cxnSpLocks/>
          </p:cNvCxnSpPr>
          <p:nvPr/>
        </p:nvCxnSpPr>
        <p:spPr>
          <a:xfrm>
            <a:off x="548518" y="476410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CCEFF80-5710-458D-9791-FBE5B48B0CDC}"/>
              </a:ext>
            </a:extLst>
          </p:cNvPr>
          <p:cNvCxnSpPr>
            <a:cxnSpLocks/>
          </p:cNvCxnSpPr>
          <p:nvPr/>
        </p:nvCxnSpPr>
        <p:spPr>
          <a:xfrm>
            <a:off x="548518" y="5230177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8A33A44-740F-4CB8-BBF6-DCDBD3175A95}"/>
              </a:ext>
            </a:extLst>
          </p:cNvPr>
          <p:cNvCxnSpPr>
            <a:cxnSpLocks/>
          </p:cNvCxnSpPr>
          <p:nvPr/>
        </p:nvCxnSpPr>
        <p:spPr>
          <a:xfrm>
            <a:off x="469323" y="568070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14">
            <a:extLst>
              <a:ext uri="{FF2B5EF4-FFF2-40B4-BE49-F238E27FC236}">
                <a16:creationId xmlns:a16="http://schemas.microsoft.com/office/drawing/2014/main" id="{B604C22C-FFBA-4178-A535-4DD23CD3D857}"/>
              </a:ext>
            </a:extLst>
          </p:cNvPr>
          <p:cNvSpPr/>
          <p:nvPr/>
        </p:nvSpPr>
        <p:spPr>
          <a:xfrm>
            <a:off x="950096" y="2224197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P&amp;L Commercial</a:t>
            </a:r>
            <a:endParaRPr lang="en-US" sz="14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FD4D04FF-D48F-4CA4-A712-928199C5A22A}"/>
              </a:ext>
            </a:extLst>
          </p:cNvPr>
          <p:cNvSpPr/>
          <p:nvPr/>
        </p:nvSpPr>
        <p:spPr>
          <a:xfrm>
            <a:off x="880862" y="2759674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Collections Report</a:t>
            </a:r>
            <a:endParaRPr lang="en-US" sz="140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9B41664F-ED36-4B90-9BDF-DE17A5A7D5A3}"/>
              </a:ext>
            </a:extLst>
          </p:cNvPr>
          <p:cNvSpPr/>
          <p:nvPr/>
        </p:nvSpPr>
        <p:spPr>
          <a:xfrm>
            <a:off x="880862" y="3232423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Aging update</a:t>
            </a:r>
            <a:endParaRPr lang="en-US" sz="14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2299B116-8101-4924-BC32-47A04866CD1E}"/>
              </a:ext>
            </a:extLst>
          </p:cNvPr>
          <p:cNvSpPr/>
          <p:nvPr/>
        </p:nvSpPr>
        <p:spPr>
          <a:xfrm>
            <a:off x="880862" y="3785326"/>
            <a:ext cx="305826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Customer statement report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D7F3CC82-2259-4534-9FBB-6C488BA04A74}"/>
              </a:ext>
            </a:extLst>
          </p:cNvPr>
          <p:cNvSpPr/>
          <p:nvPr/>
        </p:nvSpPr>
        <p:spPr>
          <a:xfrm>
            <a:off x="869482" y="4873386"/>
            <a:ext cx="265507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sales tax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EC4258F8-4A0B-4634-9C11-7703062B9C5A}"/>
              </a:ext>
            </a:extLst>
          </p:cNvPr>
          <p:cNvSpPr/>
          <p:nvPr/>
        </p:nvSpPr>
        <p:spPr>
          <a:xfrm>
            <a:off x="874828" y="4400685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Sales Vs Return</a:t>
            </a:r>
            <a:endParaRPr lang="en-US" sz="14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0277A3BD-68BE-4B80-A577-80EC8B8EC225}"/>
              </a:ext>
            </a:extLst>
          </p:cNvPr>
          <p:cNvSpPr/>
          <p:nvPr/>
        </p:nvSpPr>
        <p:spPr>
          <a:xfrm>
            <a:off x="869482" y="5283168"/>
            <a:ext cx="265507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Sales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92270BF0-AEF8-4CDB-AE66-4A764260DB60}"/>
              </a:ext>
            </a:extLst>
          </p:cNvPr>
          <p:cNvSpPr/>
          <p:nvPr/>
        </p:nvSpPr>
        <p:spPr>
          <a:xfrm>
            <a:off x="880861" y="5831042"/>
            <a:ext cx="31377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Monthly Brands Sales Report</a:t>
            </a:r>
            <a:endParaRPr lang="en-US" sz="1400" dirty="0"/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E0F9A3FE-AE02-4D19-BCCC-9239136D7100}"/>
              </a:ext>
            </a:extLst>
          </p:cNvPr>
          <p:cNvSpPr/>
          <p:nvPr/>
        </p:nvSpPr>
        <p:spPr>
          <a:xfrm>
            <a:off x="5073041" y="2570084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1400" dirty="0"/>
          </a:p>
        </p:txBody>
      </p:sp>
      <p:sp>
        <p:nvSpPr>
          <p:cNvPr id="51" name="Text 35">
            <a:extLst>
              <a:ext uri="{FF2B5EF4-FFF2-40B4-BE49-F238E27FC236}">
                <a16:creationId xmlns:a16="http://schemas.microsoft.com/office/drawing/2014/main" id="{FB4FBFCE-BC86-4413-B67F-32B1D058E591}"/>
              </a:ext>
            </a:extLst>
          </p:cNvPr>
          <p:cNvSpPr/>
          <p:nvPr/>
        </p:nvSpPr>
        <p:spPr>
          <a:xfrm>
            <a:off x="5070440" y="1562070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+ Monthly</a:t>
            </a:r>
            <a:endParaRPr lang="en-US" sz="1400" dirty="0"/>
          </a:p>
        </p:txBody>
      </p:sp>
      <p:sp>
        <p:nvSpPr>
          <p:cNvPr id="54" name="Text 35">
            <a:extLst>
              <a:ext uri="{FF2B5EF4-FFF2-40B4-BE49-F238E27FC236}">
                <a16:creationId xmlns:a16="http://schemas.microsoft.com/office/drawing/2014/main" id="{73BDC7DB-C2B2-4569-9DF6-FF25595243CE}"/>
              </a:ext>
            </a:extLst>
          </p:cNvPr>
          <p:cNvSpPr/>
          <p:nvPr/>
        </p:nvSpPr>
        <p:spPr>
          <a:xfrm>
            <a:off x="5073041" y="2103413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400" dirty="0"/>
          </a:p>
        </p:txBody>
      </p:sp>
      <p:sp>
        <p:nvSpPr>
          <p:cNvPr id="56" name="Text 35">
            <a:extLst>
              <a:ext uri="{FF2B5EF4-FFF2-40B4-BE49-F238E27FC236}">
                <a16:creationId xmlns:a16="http://schemas.microsoft.com/office/drawing/2014/main" id="{9EFBAED4-9AAA-4ADF-906F-E38B254A5ECC}"/>
              </a:ext>
            </a:extLst>
          </p:cNvPr>
          <p:cNvSpPr/>
          <p:nvPr/>
        </p:nvSpPr>
        <p:spPr>
          <a:xfrm>
            <a:off x="5091079" y="3142039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Time weekly</a:t>
            </a:r>
            <a:endParaRPr lang="en-US" sz="1400" dirty="0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DFA3FB5A-8BD4-434E-ACC2-6BB7388DBCAE}"/>
              </a:ext>
            </a:extLst>
          </p:cNvPr>
          <p:cNvSpPr/>
          <p:nvPr/>
        </p:nvSpPr>
        <p:spPr>
          <a:xfrm>
            <a:off x="5086739" y="3672044"/>
            <a:ext cx="1381116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Time weekly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12073EF4-C3BE-4C8F-8E3C-3BA181311C33}"/>
              </a:ext>
            </a:extLst>
          </p:cNvPr>
          <p:cNvSpPr/>
          <p:nvPr/>
        </p:nvSpPr>
        <p:spPr>
          <a:xfrm>
            <a:off x="5086645" y="4219180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400" dirty="0"/>
          </a:p>
        </p:txBody>
      </p:sp>
      <p:sp>
        <p:nvSpPr>
          <p:cNvPr id="59" name="Text 35">
            <a:extLst>
              <a:ext uri="{FF2B5EF4-FFF2-40B4-BE49-F238E27FC236}">
                <a16:creationId xmlns:a16="http://schemas.microsoft.com/office/drawing/2014/main" id="{C5FE47F5-7E65-44D2-A9E0-10817E855463}"/>
              </a:ext>
            </a:extLst>
          </p:cNvPr>
          <p:cNvSpPr/>
          <p:nvPr/>
        </p:nvSpPr>
        <p:spPr>
          <a:xfrm>
            <a:off x="5073041" y="4730723"/>
            <a:ext cx="1381116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2FB3679E-E060-4738-B3AD-13691493CFD8}"/>
              </a:ext>
            </a:extLst>
          </p:cNvPr>
          <p:cNvSpPr/>
          <p:nvPr/>
        </p:nvSpPr>
        <p:spPr>
          <a:xfrm>
            <a:off x="5072838" y="5181481"/>
            <a:ext cx="1381116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5" name="Text 35">
            <a:extLst>
              <a:ext uri="{FF2B5EF4-FFF2-40B4-BE49-F238E27FC236}">
                <a16:creationId xmlns:a16="http://schemas.microsoft.com/office/drawing/2014/main" id="{F6FDB444-65BD-4C50-B783-640B8A4262E7}"/>
              </a:ext>
            </a:extLst>
          </p:cNvPr>
          <p:cNvSpPr/>
          <p:nvPr/>
        </p:nvSpPr>
        <p:spPr>
          <a:xfrm>
            <a:off x="5053405" y="5690690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400" dirty="0"/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3158C228-CBD5-4857-B76A-5FE4471035E4}"/>
              </a:ext>
            </a:extLst>
          </p:cNvPr>
          <p:cNvSpPr/>
          <p:nvPr/>
        </p:nvSpPr>
        <p:spPr>
          <a:xfrm>
            <a:off x="7469310" y="2118081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Head</a:t>
            </a:r>
            <a:endParaRPr lang="en-US" sz="1400" dirty="0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A7FD0C89-A05F-490C-B4A5-0EAC2F4D5BF3}"/>
              </a:ext>
            </a:extLst>
          </p:cNvPr>
          <p:cNvSpPr/>
          <p:nvPr/>
        </p:nvSpPr>
        <p:spPr>
          <a:xfrm>
            <a:off x="6840666" y="2559905"/>
            <a:ext cx="3390903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Head &amp; Department Managers</a:t>
            </a:r>
            <a:endParaRPr lang="en-US" sz="1400" dirty="0"/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FF6883BB-3834-40F0-A572-02093F478A04}"/>
              </a:ext>
            </a:extLst>
          </p:cNvPr>
          <p:cNvSpPr/>
          <p:nvPr/>
        </p:nvSpPr>
        <p:spPr>
          <a:xfrm>
            <a:off x="7189064" y="3052073"/>
            <a:ext cx="2015655" cy="55964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Collection department manger + Sales managers</a:t>
            </a:r>
            <a:endParaRPr lang="en-US" sz="1400" dirty="0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C9E9A298-7601-4DC7-967C-1888D5029751}"/>
              </a:ext>
            </a:extLst>
          </p:cNvPr>
          <p:cNvSpPr/>
          <p:nvPr/>
        </p:nvSpPr>
        <p:spPr>
          <a:xfrm>
            <a:off x="7464744" y="4239066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managers</a:t>
            </a:r>
            <a:endParaRPr lang="en-US" sz="1400" dirty="0"/>
          </a:p>
        </p:txBody>
      </p:sp>
      <p:sp>
        <p:nvSpPr>
          <p:cNvPr id="70" name="Text 16">
            <a:extLst>
              <a:ext uri="{FF2B5EF4-FFF2-40B4-BE49-F238E27FC236}">
                <a16:creationId xmlns:a16="http://schemas.microsoft.com/office/drawing/2014/main" id="{352ECB89-CE73-4422-AAD1-BA96360E2D38}"/>
              </a:ext>
            </a:extLst>
          </p:cNvPr>
          <p:cNvSpPr/>
          <p:nvPr/>
        </p:nvSpPr>
        <p:spPr>
          <a:xfrm>
            <a:off x="7457407" y="4812310"/>
            <a:ext cx="2762259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 department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E0159A28-15D6-4C76-9A88-288DF6746058}"/>
              </a:ext>
            </a:extLst>
          </p:cNvPr>
          <p:cNvSpPr/>
          <p:nvPr/>
        </p:nvSpPr>
        <p:spPr>
          <a:xfrm>
            <a:off x="7469311" y="5221735"/>
            <a:ext cx="2762259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Department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AE36CDAA-1522-48FD-82DA-B3451A5A477A}"/>
              </a:ext>
            </a:extLst>
          </p:cNvPr>
          <p:cNvSpPr/>
          <p:nvPr/>
        </p:nvSpPr>
        <p:spPr>
          <a:xfrm>
            <a:off x="7464743" y="5757536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Hr. Department </a:t>
            </a:r>
            <a:r>
              <a:rPr lang="en-US" sz="140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Payroll</a:t>
            </a:r>
            <a:endParaRPr lang="en-US" sz="1400" dirty="0"/>
          </a:p>
        </p:txBody>
      </p:sp>
      <p:sp>
        <p:nvSpPr>
          <p:cNvPr id="73" name="Text 16">
            <a:extLst>
              <a:ext uri="{FF2B5EF4-FFF2-40B4-BE49-F238E27FC236}">
                <a16:creationId xmlns:a16="http://schemas.microsoft.com/office/drawing/2014/main" id="{50E3F0D6-D6D8-4F2D-90E6-C2741B80EA4C}"/>
              </a:ext>
            </a:extLst>
          </p:cNvPr>
          <p:cNvSpPr/>
          <p:nvPr/>
        </p:nvSpPr>
        <p:spPr>
          <a:xfrm>
            <a:off x="7464745" y="3643879"/>
            <a:ext cx="2762259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Salespersons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5" name="Shape 42">
            <a:extLst>
              <a:ext uri="{FF2B5EF4-FFF2-40B4-BE49-F238E27FC236}">
                <a16:creationId xmlns:a16="http://schemas.microsoft.com/office/drawing/2014/main" id="{AD9F3714-30B1-4014-B06F-EAB7ACDB26E4}"/>
              </a:ext>
            </a:extLst>
          </p:cNvPr>
          <p:cNvSpPr/>
          <p:nvPr/>
        </p:nvSpPr>
        <p:spPr>
          <a:xfrm>
            <a:off x="9855686" y="2201113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Shape 42">
            <a:extLst>
              <a:ext uri="{FF2B5EF4-FFF2-40B4-BE49-F238E27FC236}">
                <a16:creationId xmlns:a16="http://schemas.microsoft.com/office/drawing/2014/main" id="{7E717E4F-05FF-4CCD-8A03-4A90449B4487}"/>
              </a:ext>
            </a:extLst>
          </p:cNvPr>
          <p:cNvSpPr/>
          <p:nvPr/>
        </p:nvSpPr>
        <p:spPr>
          <a:xfrm>
            <a:off x="10009797" y="1675209"/>
            <a:ext cx="1466307" cy="337105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43">
            <a:extLst>
              <a:ext uri="{FF2B5EF4-FFF2-40B4-BE49-F238E27FC236}">
                <a16:creationId xmlns:a16="http://schemas.microsoft.com/office/drawing/2014/main" id="{B0BFE80F-804E-49D6-BA62-5A0244B20F26}"/>
              </a:ext>
            </a:extLst>
          </p:cNvPr>
          <p:cNvSpPr/>
          <p:nvPr/>
        </p:nvSpPr>
        <p:spPr>
          <a:xfrm>
            <a:off x="10200490" y="1706672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73462B14-8F4E-48AF-B285-78DEAA70AFBB}"/>
              </a:ext>
            </a:extLst>
          </p:cNvPr>
          <p:cNvSpPr/>
          <p:nvPr/>
        </p:nvSpPr>
        <p:spPr>
          <a:xfrm>
            <a:off x="10831133" y="2202739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43">
            <a:extLst>
              <a:ext uri="{FF2B5EF4-FFF2-40B4-BE49-F238E27FC236}">
                <a16:creationId xmlns:a16="http://schemas.microsoft.com/office/drawing/2014/main" id="{8EDA158B-7517-4195-9FBA-B69526DF67A0}"/>
              </a:ext>
            </a:extLst>
          </p:cNvPr>
          <p:cNvSpPr/>
          <p:nvPr/>
        </p:nvSpPr>
        <p:spPr>
          <a:xfrm>
            <a:off x="9810107" y="2220570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80" name="Text 28">
            <a:extLst>
              <a:ext uri="{FF2B5EF4-FFF2-40B4-BE49-F238E27FC236}">
                <a16:creationId xmlns:a16="http://schemas.microsoft.com/office/drawing/2014/main" id="{39FAAD94-DFC8-4C89-9E6D-0B2BA4FAB1BC}"/>
              </a:ext>
            </a:extLst>
          </p:cNvPr>
          <p:cNvSpPr/>
          <p:nvPr/>
        </p:nvSpPr>
        <p:spPr>
          <a:xfrm>
            <a:off x="10907663" y="2211523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85" name="Shape 42">
            <a:extLst>
              <a:ext uri="{FF2B5EF4-FFF2-40B4-BE49-F238E27FC236}">
                <a16:creationId xmlns:a16="http://schemas.microsoft.com/office/drawing/2014/main" id="{CC641A63-0C09-47C2-8ED4-3DA8AEE21AAE}"/>
              </a:ext>
            </a:extLst>
          </p:cNvPr>
          <p:cNvSpPr/>
          <p:nvPr/>
        </p:nvSpPr>
        <p:spPr>
          <a:xfrm>
            <a:off x="10028973" y="2689615"/>
            <a:ext cx="1466307" cy="337105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43">
            <a:extLst>
              <a:ext uri="{FF2B5EF4-FFF2-40B4-BE49-F238E27FC236}">
                <a16:creationId xmlns:a16="http://schemas.microsoft.com/office/drawing/2014/main" id="{21EF3B35-E239-486B-9FF7-2DE12D7EC222}"/>
              </a:ext>
            </a:extLst>
          </p:cNvPr>
          <p:cNvSpPr/>
          <p:nvPr/>
        </p:nvSpPr>
        <p:spPr>
          <a:xfrm>
            <a:off x="10219666" y="2721078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87" name="Shape 37">
            <a:extLst>
              <a:ext uri="{FF2B5EF4-FFF2-40B4-BE49-F238E27FC236}">
                <a16:creationId xmlns:a16="http://schemas.microsoft.com/office/drawing/2014/main" id="{16D85454-C854-4329-85F2-BA5C66D72FBD}"/>
              </a:ext>
            </a:extLst>
          </p:cNvPr>
          <p:cNvSpPr/>
          <p:nvPr/>
        </p:nvSpPr>
        <p:spPr>
          <a:xfrm>
            <a:off x="10265687" y="3239231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28">
            <a:extLst>
              <a:ext uri="{FF2B5EF4-FFF2-40B4-BE49-F238E27FC236}">
                <a16:creationId xmlns:a16="http://schemas.microsoft.com/office/drawing/2014/main" id="{E6A1E4B1-CE25-44B8-930F-40E9A7F4A9F1}"/>
              </a:ext>
            </a:extLst>
          </p:cNvPr>
          <p:cNvSpPr/>
          <p:nvPr/>
        </p:nvSpPr>
        <p:spPr>
          <a:xfrm>
            <a:off x="10342217" y="3248015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89" name="Shape 37">
            <a:extLst>
              <a:ext uri="{FF2B5EF4-FFF2-40B4-BE49-F238E27FC236}">
                <a16:creationId xmlns:a16="http://schemas.microsoft.com/office/drawing/2014/main" id="{89A29600-17D9-4FF0-945D-965ACB5172DF}"/>
              </a:ext>
            </a:extLst>
          </p:cNvPr>
          <p:cNvSpPr/>
          <p:nvPr/>
        </p:nvSpPr>
        <p:spPr>
          <a:xfrm>
            <a:off x="10285158" y="5871127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28">
            <a:extLst>
              <a:ext uri="{FF2B5EF4-FFF2-40B4-BE49-F238E27FC236}">
                <a16:creationId xmlns:a16="http://schemas.microsoft.com/office/drawing/2014/main" id="{D1CC3E20-60DD-4CA2-9D73-753695C5211D}"/>
              </a:ext>
            </a:extLst>
          </p:cNvPr>
          <p:cNvSpPr/>
          <p:nvPr/>
        </p:nvSpPr>
        <p:spPr>
          <a:xfrm>
            <a:off x="10361688" y="5879911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91" name="Shape 37">
            <a:extLst>
              <a:ext uri="{FF2B5EF4-FFF2-40B4-BE49-F238E27FC236}">
                <a16:creationId xmlns:a16="http://schemas.microsoft.com/office/drawing/2014/main" id="{6DC4FD49-118E-40C3-9155-6D35B306439F}"/>
              </a:ext>
            </a:extLst>
          </p:cNvPr>
          <p:cNvSpPr/>
          <p:nvPr/>
        </p:nvSpPr>
        <p:spPr>
          <a:xfrm>
            <a:off x="10282598" y="5312664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BFBEB5F9-AB04-4E5C-916B-5D8A1BEB5D7C}"/>
              </a:ext>
            </a:extLst>
          </p:cNvPr>
          <p:cNvSpPr/>
          <p:nvPr/>
        </p:nvSpPr>
        <p:spPr>
          <a:xfrm>
            <a:off x="10359128" y="5321448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93" name="Shape 37">
            <a:extLst>
              <a:ext uri="{FF2B5EF4-FFF2-40B4-BE49-F238E27FC236}">
                <a16:creationId xmlns:a16="http://schemas.microsoft.com/office/drawing/2014/main" id="{6FF1D8A8-3A0D-4DA8-9275-F7C1B5A51BDE}"/>
              </a:ext>
            </a:extLst>
          </p:cNvPr>
          <p:cNvSpPr/>
          <p:nvPr/>
        </p:nvSpPr>
        <p:spPr>
          <a:xfrm>
            <a:off x="10285158" y="4869624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28">
            <a:extLst>
              <a:ext uri="{FF2B5EF4-FFF2-40B4-BE49-F238E27FC236}">
                <a16:creationId xmlns:a16="http://schemas.microsoft.com/office/drawing/2014/main" id="{76A9DC7E-E35D-4157-854F-F3643F2ED658}"/>
              </a:ext>
            </a:extLst>
          </p:cNvPr>
          <p:cNvSpPr/>
          <p:nvPr/>
        </p:nvSpPr>
        <p:spPr>
          <a:xfrm>
            <a:off x="10361688" y="4878408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97" name="Shape 37">
            <a:extLst>
              <a:ext uri="{FF2B5EF4-FFF2-40B4-BE49-F238E27FC236}">
                <a16:creationId xmlns:a16="http://schemas.microsoft.com/office/drawing/2014/main" id="{6AEB9A75-E5D1-4496-B3BF-80FF71D505CD}"/>
              </a:ext>
            </a:extLst>
          </p:cNvPr>
          <p:cNvSpPr/>
          <p:nvPr/>
        </p:nvSpPr>
        <p:spPr>
          <a:xfrm>
            <a:off x="10267149" y="3787245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28">
            <a:extLst>
              <a:ext uri="{FF2B5EF4-FFF2-40B4-BE49-F238E27FC236}">
                <a16:creationId xmlns:a16="http://schemas.microsoft.com/office/drawing/2014/main" id="{CC08FF8E-835F-4E8B-9E7C-4608E96AECFC}"/>
              </a:ext>
            </a:extLst>
          </p:cNvPr>
          <p:cNvSpPr/>
          <p:nvPr/>
        </p:nvSpPr>
        <p:spPr>
          <a:xfrm>
            <a:off x="10343679" y="3796029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74" name="Shape 42">
            <a:extLst>
              <a:ext uri="{FF2B5EF4-FFF2-40B4-BE49-F238E27FC236}">
                <a16:creationId xmlns:a16="http://schemas.microsoft.com/office/drawing/2014/main" id="{59A7A90D-61A1-442D-8459-A5B4B93F0722}"/>
              </a:ext>
            </a:extLst>
          </p:cNvPr>
          <p:cNvSpPr/>
          <p:nvPr/>
        </p:nvSpPr>
        <p:spPr>
          <a:xfrm>
            <a:off x="10040876" y="4323568"/>
            <a:ext cx="1466307" cy="337105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43">
            <a:extLst>
              <a:ext uri="{FF2B5EF4-FFF2-40B4-BE49-F238E27FC236}">
                <a16:creationId xmlns:a16="http://schemas.microsoft.com/office/drawing/2014/main" id="{BAB94299-30C9-4CDF-A754-E521791C9483}"/>
              </a:ext>
            </a:extLst>
          </p:cNvPr>
          <p:cNvSpPr/>
          <p:nvPr/>
        </p:nvSpPr>
        <p:spPr>
          <a:xfrm>
            <a:off x="10231569" y="4355031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24297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27F792BB-FA7B-4C9A-984B-C41D76EF7B2F}"/>
              </a:ext>
            </a:extLst>
          </p:cNvPr>
          <p:cNvSpPr/>
          <p:nvPr/>
        </p:nvSpPr>
        <p:spPr>
          <a:xfrm>
            <a:off x="767672" y="428625"/>
            <a:ext cx="871537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latin typeface="Impact" panose="020B0806030902050204" pitchFamily="34" charset="0"/>
                <a:ea typeface="+mj-ea"/>
                <a:cs typeface="+mj-cs"/>
              </a:rPr>
              <a:t>FINANCIAL REPORTING MATRIX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1338B18-4440-4A97-9CCC-EE6D365B2F2E}"/>
              </a:ext>
            </a:extLst>
          </p:cNvPr>
          <p:cNvSpPr/>
          <p:nvPr/>
        </p:nvSpPr>
        <p:spPr>
          <a:xfrm>
            <a:off x="0" y="1078299"/>
            <a:ext cx="12192000" cy="71130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AECC0A29-37D6-4BAB-A382-E42AE9ABE19B}"/>
              </a:ext>
            </a:extLst>
          </p:cNvPr>
          <p:cNvSpPr/>
          <p:nvPr/>
        </p:nvSpPr>
        <p:spPr>
          <a:xfrm>
            <a:off x="548518" y="1103708"/>
            <a:ext cx="3655462" cy="492833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CEB5A4C-F03B-44C7-B310-D042B2727C74}"/>
              </a:ext>
            </a:extLst>
          </p:cNvPr>
          <p:cNvSpPr/>
          <p:nvPr/>
        </p:nvSpPr>
        <p:spPr>
          <a:xfrm>
            <a:off x="767673" y="1093435"/>
            <a:ext cx="3115958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REPORT NAME</a:t>
            </a: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81A82577-7D83-4458-96A9-28C0AEC12AEF}"/>
              </a:ext>
            </a:extLst>
          </p:cNvPr>
          <p:cNvSpPr/>
          <p:nvPr/>
        </p:nvSpPr>
        <p:spPr>
          <a:xfrm>
            <a:off x="4285325" y="1132198"/>
            <a:ext cx="2555341" cy="464344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04637816-3BAE-4BE6-BEB2-4DD969E75D35}"/>
              </a:ext>
            </a:extLst>
          </p:cNvPr>
          <p:cNvSpPr/>
          <p:nvPr/>
        </p:nvSpPr>
        <p:spPr>
          <a:xfrm flipH="1">
            <a:off x="7767235" y="456445"/>
            <a:ext cx="153306" cy="464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FAB81CF-F4CA-4F97-AE04-23FB8DC5F6E4}"/>
              </a:ext>
            </a:extLst>
          </p:cNvPr>
          <p:cNvSpPr/>
          <p:nvPr/>
        </p:nvSpPr>
        <p:spPr>
          <a:xfrm>
            <a:off x="4752497" y="1113864"/>
            <a:ext cx="1779931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FREQUENCY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82FE9BF-3D08-49B5-A18D-2A30C5B0622F}"/>
              </a:ext>
            </a:extLst>
          </p:cNvPr>
          <p:cNvSpPr/>
          <p:nvPr/>
        </p:nvSpPr>
        <p:spPr>
          <a:xfrm>
            <a:off x="6934122" y="1133932"/>
            <a:ext cx="2762259" cy="464344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94F248E1-E49A-426A-B1B3-574C8E464D18}"/>
              </a:ext>
            </a:extLst>
          </p:cNvPr>
          <p:cNvSpPr/>
          <p:nvPr/>
        </p:nvSpPr>
        <p:spPr>
          <a:xfrm>
            <a:off x="7714763" y="1133932"/>
            <a:ext cx="1779931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</a:rPr>
              <a:t>RECIPIENT</a:t>
            </a: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F52DF92C-A6A4-4237-BE9F-F04E86C81794}"/>
              </a:ext>
            </a:extLst>
          </p:cNvPr>
          <p:cNvSpPr/>
          <p:nvPr/>
        </p:nvSpPr>
        <p:spPr>
          <a:xfrm>
            <a:off x="9789670" y="1113864"/>
            <a:ext cx="1853812" cy="484412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4A75594-FCA2-403C-A9F2-3B3AE016D6D9}"/>
              </a:ext>
            </a:extLst>
          </p:cNvPr>
          <p:cNvSpPr/>
          <p:nvPr/>
        </p:nvSpPr>
        <p:spPr>
          <a:xfrm>
            <a:off x="10262366" y="1126569"/>
            <a:ext cx="1381116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TYPE</a:t>
            </a: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3D15B085-3401-4531-9FB9-9461B451D2B0}"/>
              </a:ext>
            </a:extLst>
          </p:cNvPr>
          <p:cNvSpPr/>
          <p:nvPr/>
        </p:nvSpPr>
        <p:spPr>
          <a:xfrm>
            <a:off x="541622" y="1729094"/>
            <a:ext cx="4441597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Providing AR Data to working Capital report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7BF2F55-A69C-48BD-926B-C834D970337B}"/>
              </a:ext>
            </a:extLst>
          </p:cNvPr>
          <p:cNvSpPr/>
          <p:nvPr/>
        </p:nvSpPr>
        <p:spPr>
          <a:xfrm>
            <a:off x="7457407" y="1596541"/>
            <a:ext cx="2762259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Department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AC37E9-2BA2-4D05-B459-6AA1CCF9B0F7}"/>
              </a:ext>
            </a:extLst>
          </p:cNvPr>
          <p:cNvCxnSpPr>
            <a:cxnSpLocks/>
          </p:cNvCxnSpPr>
          <p:nvPr/>
        </p:nvCxnSpPr>
        <p:spPr>
          <a:xfrm flipH="1">
            <a:off x="4203980" y="1594001"/>
            <a:ext cx="40249" cy="48889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3AC0B7-C101-40D2-BC33-ED174CD52FC7}"/>
              </a:ext>
            </a:extLst>
          </p:cNvPr>
          <p:cNvCxnSpPr>
            <a:cxnSpLocks/>
          </p:cNvCxnSpPr>
          <p:nvPr/>
        </p:nvCxnSpPr>
        <p:spPr>
          <a:xfrm>
            <a:off x="548518" y="1594001"/>
            <a:ext cx="1109496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06E9F04-FC9B-4927-BEC1-0B1093A098A7}"/>
              </a:ext>
            </a:extLst>
          </p:cNvPr>
          <p:cNvCxnSpPr>
            <a:cxnSpLocks/>
          </p:cNvCxnSpPr>
          <p:nvPr/>
        </p:nvCxnSpPr>
        <p:spPr>
          <a:xfrm>
            <a:off x="6881762" y="1580736"/>
            <a:ext cx="0" cy="49022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549C3D6-F3F5-4208-B2B0-F7F267CB2557}"/>
              </a:ext>
            </a:extLst>
          </p:cNvPr>
          <p:cNvCxnSpPr>
            <a:cxnSpLocks/>
          </p:cNvCxnSpPr>
          <p:nvPr/>
        </p:nvCxnSpPr>
        <p:spPr>
          <a:xfrm>
            <a:off x="9744938" y="1581335"/>
            <a:ext cx="0" cy="49016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2A529E9-AE0C-48C3-9FCD-9AEC70A72595}"/>
              </a:ext>
            </a:extLst>
          </p:cNvPr>
          <p:cNvCxnSpPr>
            <a:cxnSpLocks/>
          </p:cNvCxnSpPr>
          <p:nvPr/>
        </p:nvCxnSpPr>
        <p:spPr>
          <a:xfrm>
            <a:off x="548518" y="2068363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76DC7D9-E225-4FB8-93F8-829F1A6F737D}"/>
              </a:ext>
            </a:extLst>
          </p:cNvPr>
          <p:cNvCxnSpPr>
            <a:cxnSpLocks/>
          </p:cNvCxnSpPr>
          <p:nvPr/>
        </p:nvCxnSpPr>
        <p:spPr>
          <a:xfrm>
            <a:off x="548518" y="2580359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77890C7-C5C4-49DB-8E8A-A728C1372AF4}"/>
              </a:ext>
            </a:extLst>
          </p:cNvPr>
          <p:cNvCxnSpPr>
            <a:cxnSpLocks/>
          </p:cNvCxnSpPr>
          <p:nvPr/>
        </p:nvCxnSpPr>
        <p:spPr>
          <a:xfrm>
            <a:off x="548518" y="308208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5A2F9F2-DB33-48DB-A926-EE8C3656286A}"/>
              </a:ext>
            </a:extLst>
          </p:cNvPr>
          <p:cNvCxnSpPr>
            <a:cxnSpLocks/>
          </p:cNvCxnSpPr>
          <p:nvPr/>
        </p:nvCxnSpPr>
        <p:spPr>
          <a:xfrm>
            <a:off x="548518" y="3631922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A196512-3E05-4FC4-8179-549A15E0C836}"/>
              </a:ext>
            </a:extLst>
          </p:cNvPr>
          <p:cNvCxnSpPr>
            <a:cxnSpLocks/>
          </p:cNvCxnSpPr>
          <p:nvPr/>
        </p:nvCxnSpPr>
        <p:spPr>
          <a:xfrm>
            <a:off x="548518" y="4159637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5E830C1-65A0-4259-9C38-045AD0340A6C}"/>
              </a:ext>
            </a:extLst>
          </p:cNvPr>
          <p:cNvCxnSpPr>
            <a:cxnSpLocks/>
          </p:cNvCxnSpPr>
          <p:nvPr/>
        </p:nvCxnSpPr>
        <p:spPr>
          <a:xfrm>
            <a:off x="548518" y="476410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CCEFF80-5710-458D-9791-FBE5B48B0CDC}"/>
              </a:ext>
            </a:extLst>
          </p:cNvPr>
          <p:cNvCxnSpPr>
            <a:cxnSpLocks/>
          </p:cNvCxnSpPr>
          <p:nvPr/>
        </p:nvCxnSpPr>
        <p:spPr>
          <a:xfrm>
            <a:off x="548518" y="5230177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8A33A44-740F-4CB8-BBF6-DCDBD3175A95}"/>
              </a:ext>
            </a:extLst>
          </p:cNvPr>
          <p:cNvCxnSpPr>
            <a:cxnSpLocks/>
          </p:cNvCxnSpPr>
          <p:nvPr/>
        </p:nvCxnSpPr>
        <p:spPr>
          <a:xfrm>
            <a:off x="469323" y="568070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14">
            <a:extLst>
              <a:ext uri="{FF2B5EF4-FFF2-40B4-BE49-F238E27FC236}">
                <a16:creationId xmlns:a16="http://schemas.microsoft.com/office/drawing/2014/main" id="{B604C22C-FFBA-4178-A535-4DD23CD3D857}"/>
              </a:ext>
            </a:extLst>
          </p:cNvPr>
          <p:cNvSpPr/>
          <p:nvPr/>
        </p:nvSpPr>
        <p:spPr>
          <a:xfrm>
            <a:off x="950096" y="2224197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 Channels Agencies sales</a:t>
            </a:r>
            <a:endParaRPr lang="en-US" sz="14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FD4D04FF-D48F-4CA4-A712-928199C5A22A}"/>
              </a:ext>
            </a:extLst>
          </p:cNvPr>
          <p:cNvSpPr/>
          <p:nvPr/>
        </p:nvSpPr>
        <p:spPr>
          <a:xfrm>
            <a:off x="880862" y="2759674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Sales Performance Report</a:t>
            </a:r>
            <a:endParaRPr lang="en-US" sz="140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9B41664F-ED36-4B90-9BDF-DE17A5A7D5A3}"/>
              </a:ext>
            </a:extLst>
          </p:cNvPr>
          <p:cNvSpPr/>
          <p:nvPr/>
        </p:nvSpPr>
        <p:spPr>
          <a:xfrm>
            <a:off x="880862" y="3232423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P&amp;L B2B</a:t>
            </a:r>
            <a:endParaRPr lang="en-US" sz="14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2299B116-8101-4924-BC32-47A04866CD1E}"/>
              </a:ext>
            </a:extLst>
          </p:cNvPr>
          <p:cNvSpPr/>
          <p:nvPr/>
        </p:nvSpPr>
        <p:spPr>
          <a:xfrm>
            <a:off x="880862" y="3785326"/>
            <a:ext cx="305826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B2B Collections Report</a:t>
            </a:r>
            <a:endParaRPr lang="en-US" sz="14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D7F3CC82-2259-4534-9FBB-6C488BA04A74}"/>
              </a:ext>
            </a:extLst>
          </p:cNvPr>
          <p:cNvSpPr/>
          <p:nvPr/>
        </p:nvSpPr>
        <p:spPr>
          <a:xfrm>
            <a:off x="869482" y="4873386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P&amp;L </a:t>
            </a:r>
            <a:r>
              <a:rPr lang="en-US" sz="1400" b="1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B.Partner</a:t>
            </a:r>
            <a:endParaRPr lang="en-US" sz="14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EC4258F8-4A0B-4634-9C11-7703062B9C5A}"/>
              </a:ext>
            </a:extLst>
          </p:cNvPr>
          <p:cNvSpPr/>
          <p:nvPr/>
        </p:nvSpPr>
        <p:spPr>
          <a:xfrm>
            <a:off x="874828" y="4400685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B.Partner</a:t>
            </a: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Sales Performance Report</a:t>
            </a:r>
            <a:endParaRPr lang="en-US" sz="14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0277A3BD-68BE-4B80-A577-80EC8B8EC225}"/>
              </a:ext>
            </a:extLst>
          </p:cNvPr>
          <p:cNvSpPr/>
          <p:nvPr/>
        </p:nvSpPr>
        <p:spPr>
          <a:xfrm>
            <a:off x="869482" y="5283168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B.Partner</a:t>
            </a: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Collections Report</a:t>
            </a:r>
            <a:endParaRPr lang="en-US" sz="14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92270BF0-AEF8-4CDB-AE66-4A764260DB60}"/>
              </a:ext>
            </a:extLst>
          </p:cNvPr>
          <p:cNvSpPr/>
          <p:nvPr/>
        </p:nvSpPr>
        <p:spPr>
          <a:xfrm>
            <a:off x="880861" y="5831042"/>
            <a:ext cx="31377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 of Financial Position Analysis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E0F9A3FE-AE02-4D19-BCCC-9239136D7100}"/>
              </a:ext>
            </a:extLst>
          </p:cNvPr>
          <p:cNvSpPr/>
          <p:nvPr/>
        </p:nvSpPr>
        <p:spPr>
          <a:xfrm>
            <a:off x="5073041" y="2570084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+ Monthly</a:t>
            </a:r>
            <a:endParaRPr lang="en-US" sz="1400" dirty="0"/>
          </a:p>
        </p:txBody>
      </p:sp>
      <p:sp>
        <p:nvSpPr>
          <p:cNvPr id="51" name="Text 35">
            <a:extLst>
              <a:ext uri="{FF2B5EF4-FFF2-40B4-BE49-F238E27FC236}">
                <a16:creationId xmlns:a16="http://schemas.microsoft.com/office/drawing/2014/main" id="{FB4FBFCE-BC86-4413-B67F-32B1D058E591}"/>
              </a:ext>
            </a:extLst>
          </p:cNvPr>
          <p:cNvSpPr/>
          <p:nvPr/>
        </p:nvSpPr>
        <p:spPr>
          <a:xfrm>
            <a:off x="5070440" y="1562070"/>
            <a:ext cx="1381116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4" name="Text 35">
            <a:extLst>
              <a:ext uri="{FF2B5EF4-FFF2-40B4-BE49-F238E27FC236}">
                <a16:creationId xmlns:a16="http://schemas.microsoft.com/office/drawing/2014/main" id="{73BDC7DB-C2B2-4569-9DF6-FF25595243CE}"/>
              </a:ext>
            </a:extLst>
          </p:cNvPr>
          <p:cNvSpPr/>
          <p:nvPr/>
        </p:nvSpPr>
        <p:spPr>
          <a:xfrm>
            <a:off x="5073041" y="2103413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</a:t>
            </a:r>
            <a:endParaRPr lang="en-US" sz="1400" dirty="0"/>
          </a:p>
        </p:txBody>
      </p:sp>
      <p:sp>
        <p:nvSpPr>
          <p:cNvPr id="56" name="Text 35">
            <a:extLst>
              <a:ext uri="{FF2B5EF4-FFF2-40B4-BE49-F238E27FC236}">
                <a16:creationId xmlns:a16="http://schemas.microsoft.com/office/drawing/2014/main" id="{9EFBAED4-9AAA-4ADF-906F-E38B254A5ECC}"/>
              </a:ext>
            </a:extLst>
          </p:cNvPr>
          <p:cNvSpPr/>
          <p:nvPr/>
        </p:nvSpPr>
        <p:spPr>
          <a:xfrm>
            <a:off x="5091079" y="3142039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400" dirty="0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DFA3FB5A-8BD4-434E-ACC2-6BB7388DBCAE}"/>
              </a:ext>
            </a:extLst>
          </p:cNvPr>
          <p:cNvSpPr/>
          <p:nvPr/>
        </p:nvSpPr>
        <p:spPr>
          <a:xfrm>
            <a:off x="5086739" y="3672044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1400" dirty="0"/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12073EF4-C3BE-4C8F-8E3C-3BA181311C33}"/>
              </a:ext>
            </a:extLst>
          </p:cNvPr>
          <p:cNvSpPr/>
          <p:nvPr/>
        </p:nvSpPr>
        <p:spPr>
          <a:xfrm>
            <a:off x="5086645" y="4219180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+ Monthly</a:t>
            </a:r>
            <a:endParaRPr lang="en-US" sz="1400" dirty="0"/>
          </a:p>
        </p:txBody>
      </p:sp>
      <p:sp>
        <p:nvSpPr>
          <p:cNvPr id="59" name="Text 35">
            <a:extLst>
              <a:ext uri="{FF2B5EF4-FFF2-40B4-BE49-F238E27FC236}">
                <a16:creationId xmlns:a16="http://schemas.microsoft.com/office/drawing/2014/main" id="{C5FE47F5-7E65-44D2-A9E0-10817E855463}"/>
              </a:ext>
            </a:extLst>
          </p:cNvPr>
          <p:cNvSpPr/>
          <p:nvPr/>
        </p:nvSpPr>
        <p:spPr>
          <a:xfrm>
            <a:off x="5073041" y="4730723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400" dirty="0"/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2FB3679E-E060-4738-B3AD-13691493CFD8}"/>
              </a:ext>
            </a:extLst>
          </p:cNvPr>
          <p:cNvSpPr/>
          <p:nvPr/>
        </p:nvSpPr>
        <p:spPr>
          <a:xfrm>
            <a:off x="5072838" y="5181481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1400" dirty="0"/>
          </a:p>
        </p:txBody>
      </p:sp>
      <p:sp>
        <p:nvSpPr>
          <p:cNvPr id="65" name="Text 35">
            <a:extLst>
              <a:ext uri="{FF2B5EF4-FFF2-40B4-BE49-F238E27FC236}">
                <a16:creationId xmlns:a16="http://schemas.microsoft.com/office/drawing/2014/main" id="{F6FDB444-65BD-4C50-B783-640B8A4262E7}"/>
              </a:ext>
            </a:extLst>
          </p:cNvPr>
          <p:cNvSpPr/>
          <p:nvPr/>
        </p:nvSpPr>
        <p:spPr>
          <a:xfrm>
            <a:off x="5053405" y="5690690"/>
            <a:ext cx="1381116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3158C228-CBD5-4857-B76A-5FE4471035E4}"/>
              </a:ext>
            </a:extLst>
          </p:cNvPr>
          <p:cNvSpPr/>
          <p:nvPr/>
        </p:nvSpPr>
        <p:spPr>
          <a:xfrm>
            <a:off x="7469310" y="2118081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director</a:t>
            </a:r>
            <a:endParaRPr lang="en-US" sz="1400" dirty="0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A7FD0C89-A05F-490C-B4A5-0EAC2F4D5BF3}"/>
              </a:ext>
            </a:extLst>
          </p:cNvPr>
          <p:cNvSpPr/>
          <p:nvPr/>
        </p:nvSpPr>
        <p:spPr>
          <a:xfrm>
            <a:off x="7222691" y="2631177"/>
            <a:ext cx="3390903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&amp; Sector Heads</a:t>
            </a:r>
            <a:endParaRPr lang="en-US" sz="1400" dirty="0"/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FF6883BB-3834-40F0-A572-02093F478A04}"/>
              </a:ext>
            </a:extLst>
          </p:cNvPr>
          <p:cNvSpPr/>
          <p:nvPr/>
        </p:nvSpPr>
        <p:spPr>
          <a:xfrm>
            <a:off x="7599376" y="3162781"/>
            <a:ext cx="2637534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Head</a:t>
            </a:r>
            <a:endParaRPr lang="en-US" sz="1400" dirty="0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C9E9A298-7601-4DC7-967C-1888D5029751}"/>
              </a:ext>
            </a:extLst>
          </p:cNvPr>
          <p:cNvSpPr/>
          <p:nvPr/>
        </p:nvSpPr>
        <p:spPr>
          <a:xfrm>
            <a:off x="7113975" y="4289106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&amp; Sector Heads</a:t>
            </a:r>
            <a:endParaRPr lang="en-US" sz="1400" dirty="0"/>
          </a:p>
        </p:txBody>
      </p:sp>
      <p:sp>
        <p:nvSpPr>
          <p:cNvPr id="70" name="Text 16">
            <a:extLst>
              <a:ext uri="{FF2B5EF4-FFF2-40B4-BE49-F238E27FC236}">
                <a16:creationId xmlns:a16="http://schemas.microsoft.com/office/drawing/2014/main" id="{352ECB89-CE73-4422-AAD1-BA96360E2D38}"/>
              </a:ext>
            </a:extLst>
          </p:cNvPr>
          <p:cNvSpPr/>
          <p:nvPr/>
        </p:nvSpPr>
        <p:spPr>
          <a:xfrm>
            <a:off x="7457407" y="4812310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Head</a:t>
            </a:r>
            <a:endParaRPr lang="en-US" sz="1400" dirty="0"/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E0159A28-15D6-4C76-9A88-288DF6746058}"/>
              </a:ext>
            </a:extLst>
          </p:cNvPr>
          <p:cNvSpPr/>
          <p:nvPr/>
        </p:nvSpPr>
        <p:spPr>
          <a:xfrm>
            <a:off x="6840667" y="5221735"/>
            <a:ext cx="3390904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Head &amp; Department Managers</a:t>
            </a:r>
            <a:endParaRPr lang="en-US" sz="1400" dirty="0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AE36CDAA-1522-48FD-82DA-B3451A5A477A}"/>
              </a:ext>
            </a:extLst>
          </p:cNvPr>
          <p:cNvSpPr/>
          <p:nvPr/>
        </p:nvSpPr>
        <p:spPr>
          <a:xfrm>
            <a:off x="7093427" y="5719997"/>
            <a:ext cx="2762259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Department Manager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3" name="Text 16">
            <a:extLst>
              <a:ext uri="{FF2B5EF4-FFF2-40B4-BE49-F238E27FC236}">
                <a16:creationId xmlns:a16="http://schemas.microsoft.com/office/drawing/2014/main" id="{50E3F0D6-D6D8-4F2D-90E6-C2741B80EA4C}"/>
              </a:ext>
            </a:extLst>
          </p:cNvPr>
          <p:cNvSpPr/>
          <p:nvPr/>
        </p:nvSpPr>
        <p:spPr>
          <a:xfrm>
            <a:off x="6840666" y="3706173"/>
            <a:ext cx="3349582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Head &amp; Department Managers</a:t>
            </a:r>
            <a:endParaRPr lang="en-US" sz="1400" dirty="0"/>
          </a:p>
        </p:txBody>
      </p:sp>
      <p:sp>
        <p:nvSpPr>
          <p:cNvPr id="80" name="Text 28">
            <a:extLst>
              <a:ext uri="{FF2B5EF4-FFF2-40B4-BE49-F238E27FC236}">
                <a16:creationId xmlns:a16="http://schemas.microsoft.com/office/drawing/2014/main" id="{39FAAD94-DFC8-4C89-9E6D-0B2BA4FAB1BC}"/>
              </a:ext>
            </a:extLst>
          </p:cNvPr>
          <p:cNvSpPr/>
          <p:nvPr/>
        </p:nvSpPr>
        <p:spPr>
          <a:xfrm>
            <a:off x="10907663" y="2211523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99" name="Shape 37">
            <a:extLst>
              <a:ext uri="{FF2B5EF4-FFF2-40B4-BE49-F238E27FC236}">
                <a16:creationId xmlns:a16="http://schemas.microsoft.com/office/drawing/2014/main" id="{7409D106-1D70-4D43-8000-F54BFA098811}"/>
              </a:ext>
            </a:extLst>
          </p:cNvPr>
          <p:cNvSpPr/>
          <p:nvPr/>
        </p:nvSpPr>
        <p:spPr>
          <a:xfrm>
            <a:off x="10190248" y="2219317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28">
            <a:extLst>
              <a:ext uri="{FF2B5EF4-FFF2-40B4-BE49-F238E27FC236}">
                <a16:creationId xmlns:a16="http://schemas.microsoft.com/office/drawing/2014/main" id="{EC43C2FD-CA54-40FE-94DE-110047CF865A}"/>
              </a:ext>
            </a:extLst>
          </p:cNvPr>
          <p:cNvSpPr/>
          <p:nvPr/>
        </p:nvSpPr>
        <p:spPr>
          <a:xfrm>
            <a:off x="10266778" y="2228101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101" name="Shape 37">
            <a:extLst>
              <a:ext uri="{FF2B5EF4-FFF2-40B4-BE49-F238E27FC236}">
                <a16:creationId xmlns:a16="http://schemas.microsoft.com/office/drawing/2014/main" id="{1D16246E-6D3F-4791-9442-56E5962AEF8A}"/>
              </a:ext>
            </a:extLst>
          </p:cNvPr>
          <p:cNvSpPr/>
          <p:nvPr/>
        </p:nvSpPr>
        <p:spPr>
          <a:xfrm>
            <a:off x="10190248" y="1673100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28">
            <a:extLst>
              <a:ext uri="{FF2B5EF4-FFF2-40B4-BE49-F238E27FC236}">
                <a16:creationId xmlns:a16="http://schemas.microsoft.com/office/drawing/2014/main" id="{FAB4FF12-9905-410A-9415-AAE2237AD666}"/>
              </a:ext>
            </a:extLst>
          </p:cNvPr>
          <p:cNvSpPr/>
          <p:nvPr/>
        </p:nvSpPr>
        <p:spPr>
          <a:xfrm>
            <a:off x="10266778" y="1681884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103" name="Shape 42">
            <a:extLst>
              <a:ext uri="{FF2B5EF4-FFF2-40B4-BE49-F238E27FC236}">
                <a16:creationId xmlns:a16="http://schemas.microsoft.com/office/drawing/2014/main" id="{1C8356F3-31A2-4E94-8ADA-3B7602846C0F}"/>
              </a:ext>
            </a:extLst>
          </p:cNvPr>
          <p:cNvSpPr/>
          <p:nvPr/>
        </p:nvSpPr>
        <p:spPr>
          <a:xfrm>
            <a:off x="10143121" y="4889170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43">
            <a:extLst>
              <a:ext uri="{FF2B5EF4-FFF2-40B4-BE49-F238E27FC236}">
                <a16:creationId xmlns:a16="http://schemas.microsoft.com/office/drawing/2014/main" id="{36889ED0-F9E8-4A62-9A63-61C37869F284}"/>
              </a:ext>
            </a:extLst>
          </p:cNvPr>
          <p:cNvSpPr/>
          <p:nvPr/>
        </p:nvSpPr>
        <p:spPr>
          <a:xfrm>
            <a:off x="10097542" y="4908627"/>
            <a:ext cx="986525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05" name="Shape 42">
            <a:extLst>
              <a:ext uri="{FF2B5EF4-FFF2-40B4-BE49-F238E27FC236}">
                <a16:creationId xmlns:a16="http://schemas.microsoft.com/office/drawing/2014/main" id="{18D05A26-5586-4C97-A1D9-3F026C46E190}"/>
              </a:ext>
            </a:extLst>
          </p:cNvPr>
          <p:cNvSpPr/>
          <p:nvPr/>
        </p:nvSpPr>
        <p:spPr>
          <a:xfrm>
            <a:off x="10143121" y="4291944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6" name="Text 43">
            <a:extLst>
              <a:ext uri="{FF2B5EF4-FFF2-40B4-BE49-F238E27FC236}">
                <a16:creationId xmlns:a16="http://schemas.microsoft.com/office/drawing/2014/main" id="{86A1D342-E2DC-41E2-8780-10EC4E431FE2}"/>
              </a:ext>
            </a:extLst>
          </p:cNvPr>
          <p:cNvSpPr/>
          <p:nvPr/>
        </p:nvSpPr>
        <p:spPr>
          <a:xfrm>
            <a:off x="10097542" y="4311401"/>
            <a:ext cx="986525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07" name="Shape 42">
            <a:extLst>
              <a:ext uri="{FF2B5EF4-FFF2-40B4-BE49-F238E27FC236}">
                <a16:creationId xmlns:a16="http://schemas.microsoft.com/office/drawing/2014/main" id="{8986CA69-B1B5-4DCA-9648-3F80219DF1A1}"/>
              </a:ext>
            </a:extLst>
          </p:cNvPr>
          <p:cNvSpPr/>
          <p:nvPr/>
        </p:nvSpPr>
        <p:spPr>
          <a:xfrm>
            <a:off x="10158975" y="3765270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Text 43">
            <a:extLst>
              <a:ext uri="{FF2B5EF4-FFF2-40B4-BE49-F238E27FC236}">
                <a16:creationId xmlns:a16="http://schemas.microsoft.com/office/drawing/2014/main" id="{4E836F97-CD40-4CF4-A7E6-B04EF90BEEDA}"/>
              </a:ext>
            </a:extLst>
          </p:cNvPr>
          <p:cNvSpPr/>
          <p:nvPr/>
        </p:nvSpPr>
        <p:spPr>
          <a:xfrm>
            <a:off x="10113396" y="3784727"/>
            <a:ext cx="986525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09" name="Shape 42">
            <a:extLst>
              <a:ext uri="{FF2B5EF4-FFF2-40B4-BE49-F238E27FC236}">
                <a16:creationId xmlns:a16="http://schemas.microsoft.com/office/drawing/2014/main" id="{280DE62A-03CC-46A4-B745-514BF1BE48B0}"/>
              </a:ext>
            </a:extLst>
          </p:cNvPr>
          <p:cNvSpPr/>
          <p:nvPr/>
        </p:nvSpPr>
        <p:spPr>
          <a:xfrm>
            <a:off x="10188276" y="2726288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43">
            <a:extLst>
              <a:ext uri="{FF2B5EF4-FFF2-40B4-BE49-F238E27FC236}">
                <a16:creationId xmlns:a16="http://schemas.microsoft.com/office/drawing/2014/main" id="{2F8AB4B3-D3D4-4029-9345-4D00C12D17FC}"/>
              </a:ext>
            </a:extLst>
          </p:cNvPr>
          <p:cNvSpPr/>
          <p:nvPr/>
        </p:nvSpPr>
        <p:spPr>
          <a:xfrm>
            <a:off x="10142697" y="2745745"/>
            <a:ext cx="986525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13" name="Shape 42">
            <a:extLst>
              <a:ext uri="{FF2B5EF4-FFF2-40B4-BE49-F238E27FC236}">
                <a16:creationId xmlns:a16="http://schemas.microsoft.com/office/drawing/2014/main" id="{2FF93980-290D-4342-83B1-E01B55765139}"/>
              </a:ext>
            </a:extLst>
          </p:cNvPr>
          <p:cNvSpPr/>
          <p:nvPr/>
        </p:nvSpPr>
        <p:spPr>
          <a:xfrm>
            <a:off x="9892506" y="3225090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Shape 37">
            <a:extLst>
              <a:ext uri="{FF2B5EF4-FFF2-40B4-BE49-F238E27FC236}">
                <a16:creationId xmlns:a16="http://schemas.microsoft.com/office/drawing/2014/main" id="{11DF2126-DE69-4783-AFF8-2E2563412A72}"/>
              </a:ext>
            </a:extLst>
          </p:cNvPr>
          <p:cNvSpPr/>
          <p:nvPr/>
        </p:nvSpPr>
        <p:spPr>
          <a:xfrm>
            <a:off x="10867953" y="3226716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43">
            <a:extLst>
              <a:ext uri="{FF2B5EF4-FFF2-40B4-BE49-F238E27FC236}">
                <a16:creationId xmlns:a16="http://schemas.microsoft.com/office/drawing/2014/main" id="{1D590424-5CFA-44A5-8CEA-5750E8D77F97}"/>
              </a:ext>
            </a:extLst>
          </p:cNvPr>
          <p:cNvSpPr/>
          <p:nvPr/>
        </p:nvSpPr>
        <p:spPr>
          <a:xfrm>
            <a:off x="9846927" y="3244547"/>
            <a:ext cx="986525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16" name="Text 28">
            <a:extLst>
              <a:ext uri="{FF2B5EF4-FFF2-40B4-BE49-F238E27FC236}">
                <a16:creationId xmlns:a16="http://schemas.microsoft.com/office/drawing/2014/main" id="{58915D8A-1C9E-45AA-AC02-D3D445618D81}"/>
              </a:ext>
            </a:extLst>
          </p:cNvPr>
          <p:cNvSpPr/>
          <p:nvPr/>
        </p:nvSpPr>
        <p:spPr>
          <a:xfrm>
            <a:off x="10944483" y="3235500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117" name="Shape 42">
            <a:extLst>
              <a:ext uri="{FF2B5EF4-FFF2-40B4-BE49-F238E27FC236}">
                <a16:creationId xmlns:a16="http://schemas.microsoft.com/office/drawing/2014/main" id="{2A551B51-F56A-4370-A9EB-54A50CE5B57F}"/>
              </a:ext>
            </a:extLst>
          </p:cNvPr>
          <p:cNvSpPr/>
          <p:nvPr/>
        </p:nvSpPr>
        <p:spPr>
          <a:xfrm>
            <a:off x="9892506" y="5330740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Shape 37">
            <a:extLst>
              <a:ext uri="{FF2B5EF4-FFF2-40B4-BE49-F238E27FC236}">
                <a16:creationId xmlns:a16="http://schemas.microsoft.com/office/drawing/2014/main" id="{62DF472B-A661-4B12-B3D0-3FD583661D5F}"/>
              </a:ext>
            </a:extLst>
          </p:cNvPr>
          <p:cNvSpPr/>
          <p:nvPr/>
        </p:nvSpPr>
        <p:spPr>
          <a:xfrm>
            <a:off x="10867953" y="5332366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43">
            <a:extLst>
              <a:ext uri="{FF2B5EF4-FFF2-40B4-BE49-F238E27FC236}">
                <a16:creationId xmlns:a16="http://schemas.microsoft.com/office/drawing/2014/main" id="{4DC66C61-F2C6-4CEB-9851-FBCDDFB712A4}"/>
              </a:ext>
            </a:extLst>
          </p:cNvPr>
          <p:cNvSpPr/>
          <p:nvPr/>
        </p:nvSpPr>
        <p:spPr>
          <a:xfrm>
            <a:off x="9846927" y="5350197"/>
            <a:ext cx="986525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20" name="Text 28">
            <a:extLst>
              <a:ext uri="{FF2B5EF4-FFF2-40B4-BE49-F238E27FC236}">
                <a16:creationId xmlns:a16="http://schemas.microsoft.com/office/drawing/2014/main" id="{766DA75D-6D91-4194-8942-7C49039547CF}"/>
              </a:ext>
            </a:extLst>
          </p:cNvPr>
          <p:cNvSpPr/>
          <p:nvPr/>
        </p:nvSpPr>
        <p:spPr>
          <a:xfrm>
            <a:off x="10944483" y="5341150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75" name="Shape 37">
            <a:extLst>
              <a:ext uri="{FF2B5EF4-FFF2-40B4-BE49-F238E27FC236}">
                <a16:creationId xmlns:a16="http://schemas.microsoft.com/office/drawing/2014/main" id="{E920AADE-DD2B-4B14-A641-1598DEC9C63C}"/>
              </a:ext>
            </a:extLst>
          </p:cNvPr>
          <p:cNvSpPr/>
          <p:nvPr/>
        </p:nvSpPr>
        <p:spPr>
          <a:xfrm>
            <a:off x="10315589" y="5831653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63506707-2356-4B94-AA46-BE51D84D3E83}"/>
              </a:ext>
            </a:extLst>
          </p:cNvPr>
          <p:cNvSpPr/>
          <p:nvPr/>
        </p:nvSpPr>
        <p:spPr>
          <a:xfrm>
            <a:off x="10392119" y="5840437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20235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27F792BB-FA7B-4C9A-984B-C41D76EF7B2F}"/>
              </a:ext>
            </a:extLst>
          </p:cNvPr>
          <p:cNvSpPr/>
          <p:nvPr/>
        </p:nvSpPr>
        <p:spPr>
          <a:xfrm>
            <a:off x="767672" y="428625"/>
            <a:ext cx="871537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latin typeface="Impact" panose="020B0806030902050204" pitchFamily="34" charset="0"/>
                <a:ea typeface="+mj-ea"/>
                <a:cs typeface="+mj-cs"/>
              </a:rPr>
              <a:t>FINANCIAL REPORTING MATRIX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1338B18-4440-4A97-9CCC-EE6D365B2F2E}"/>
              </a:ext>
            </a:extLst>
          </p:cNvPr>
          <p:cNvSpPr/>
          <p:nvPr/>
        </p:nvSpPr>
        <p:spPr>
          <a:xfrm>
            <a:off x="0" y="1078299"/>
            <a:ext cx="12192000" cy="71130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AECC0A29-37D6-4BAB-A382-E42AE9ABE19B}"/>
              </a:ext>
            </a:extLst>
          </p:cNvPr>
          <p:cNvSpPr/>
          <p:nvPr/>
        </p:nvSpPr>
        <p:spPr>
          <a:xfrm>
            <a:off x="548518" y="1103708"/>
            <a:ext cx="3655462" cy="492833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CEB5A4C-F03B-44C7-B310-D042B2727C74}"/>
              </a:ext>
            </a:extLst>
          </p:cNvPr>
          <p:cNvSpPr/>
          <p:nvPr/>
        </p:nvSpPr>
        <p:spPr>
          <a:xfrm>
            <a:off x="767673" y="1093435"/>
            <a:ext cx="3115958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REPORT NAME</a:t>
            </a: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81A82577-7D83-4458-96A9-28C0AEC12AEF}"/>
              </a:ext>
            </a:extLst>
          </p:cNvPr>
          <p:cNvSpPr/>
          <p:nvPr/>
        </p:nvSpPr>
        <p:spPr>
          <a:xfrm>
            <a:off x="4285325" y="1132198"/>
            <a:ext cx="2555341" cy="464344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04637816-3BAE-4BE6-BEB2-4DD969E75D35}"/>
              </a:ext>
            </a:extLst>
          </p:cNvPr>
          <p:cNvSpPr/>
          <p:nvPr/>
        </p:nvSpPr>
        <p:spPr>
          <a:xfrm flipH="1">
            <a:off x="7767235" y="456445"/>
            <a:ext cx="153306" cy="464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FAB81CF-F4CA-4F97-AE04-23FB8DC5F6E4}"/>
              </a:ext>
            </a:extLst>
          </p:cNvPr>
          <p:cNvSpPr/>
          <p:nvPr/>
        </p:nvSpPr>
        <p:spPr>
          <a:xfrm>
            <a:off x="4752497" y="1113864"/>
            <a:ext cx="1779931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FREQUENCY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82FE9BF-3D08-49B5-A18D-2A30C5B0622F}"/>
              </a:ext>
            </a:extLst>
          </p:cNvPr>
          <p:cNvSpPr/>
          <p:nvPr/>
        </p:nvSpPr>
        <p:spPr>
          <a:xfrm>
            <a:off x="6934122" y="1133932"/>
            <a:ext cx="2762259" cy="464344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94F248E1-E49A-426A-B1B3-574C8E464D18}"/>
              </a:ext>
            </a:extLst>
          </p:cNvPr>
          <p:cNvSpPr/>
          <p:nvPr/>
        </p:nvSpPr>
        <p:spPr>
          <a:xfrm>
            <a:off x="7714763" y="1133932"/>
            <a:ext cx="1779931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</a:rPr>
              <a:t>RECIPIENT</a:t>
            </a: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F52DF92C-A6A4-4237-BE9F-F04E86C81794}"/>
              </a:ext>
            </a:extLst>
          </p:cNvPr>
          <p:cNvSpPr/>
          <p:nvPr/>
        </p:nvSpPr>
        <p:spPr>
          <a:xfrm>
            <a:off x="9789670" y="1113864"/>
            <a:ext cx="1853812" cy="484412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4A75594-FCA2-403C-A9F2-3B3AE016D6D9}"/>
              </a:ext>
            </a:extLst>
          </p:cNvPr>
          <p:cNvSpPr/>
          <p:nvPr/>
        </p:nvSpPr>
        <p:spPr>
          <a:xfrm>
            <a:off x="10262366" y="1126569"/>
            <a:ext cx="1381116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TYPE</a:t>
            </a: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3D15B085-3401-4531-9FB9-9461B451D2B0}"/>
              </a:ext>
            </a:extLst>
          </p:cNvPr>
          <p:cNvSpPr/>
          <p:nvPr/>
        </p:nvSpPr>
        <p:spPr>
          <a:xfrm>
            <a:off x="879211" y="1718108"/>
            <a:ext cx="354471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Sales Performance Report</a:t>
            </a:r>
            <a:endParaRPr lang="en-US" sz="14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7BF2F55-A69C-48BD-926B-C834D970337B}"/>
              </a:ext>
            </a:extLst>
          </p:cNvPr>
          <p:cNvSpPr/>
          <p:nvPr/>
        </p:nvSpPr>
        <p:spPr>
          <a:xfrm>
            <a:off x="7457407" y="1596541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&amp; Sector Heads</a:t>
            </a:r>
            <a:endParaRPr lang="en-US" sz="1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AC37E9-2BA2-4D05-B459-6AA1CCF9B0F7}"/>
              </a:ext>
            </a:extLst>
          </p:cNvPr>
          <p:cNvCxnSpPr>
            <a:cxnSpLocks/>
          </p:cNvCxnSpPr>
          <p:nvPr/>
        </p:nvCxnSpPr>
        <p:spPr>
          <a:xfrm flipH="1">
            <a:off x="4203980" y="1594001"/>
            <a:ext cx="40249" cy="48889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3AC0B7-C101-40D2-BC33-ED174CD52FC7}"/>
              </a:ext>
            </a:extLst>
          </p:cNvPr>
          <p:cNvCxnSpPr>
            <a:cxnSpLocks/>
          </p:cNvCxnSpPr>
          <p:nvPr/>
        </p:nvCxnSpPr>
        <p:spPr>
          <a:xfrm>
            <a:off x="548518" y="1594001"/>
            <a:ext cx="1109496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06E9F04-FC9B-4927-BEC1-0B1093A098A7}"/>
              </a:ext>
            </a:extLst>
          </p:cNvPr>
          <p:cNvCxnSpPr>
            <a:cxnSpLocks/>
          </p:cNvCxnSpPr>
          <p:nvPr/>
        </p:nvCxnSpPr>
        <p:spPr>
          <a:xfrm>
            <a:off x="6881762" y="1580736"/>
            <a:ext cx="0" cy="49022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549C3D6-F3F5-4208-B2B0-F7F267CB2557}"/>
              </a:ext>
            </a:extLst>
          </p:cNvPr>
          <p:cNvCxnSpPr>
            <a:cxnSpLocks/>
          </p:cNvCxnSpPr>
          <p:nvPr/>
        </p:nvCxnSpPr>
        <p:spPr>
          <a:xfrm>
            <a:off x="9744938" y="1581335"/>
            <a:ext cx="0" cy="49016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2A529E9-AE0C-48C3-9FCD-9AEC70A72595}"/>
              </a:ext>
            </a:extLst>
          </p:cNvPr>
          <p:cNvCxnSpPr>
            <a:cxnSpLocks/>
          </p:cNvCxnSpPr>
          <p:nvPr/>
        </p:nvCxnSpPr>
        <p:spPr>
          <a:xfrm>
            <a:off x="548518" y="2068363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76DC7D9-E225-4FB8-93F8-829F1A6F737D}"/>
              </a:ext>
            </a:extLst>
          </p:cNvPr>
          <p:cNvCxnSpPr>
            <a:cxnSpLocks/>
          </p:cNvCxnSpPr>
          <p:nvPr/>
        </p:nvCxnSpPr>
        <p:spPr>
          <a:xfrm>
            <a:off x="548518" y="2580359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77890C7-C5C4-49DB-8E8A-A728C1372AF4}"/>
              </a:ext>
            </a:extLst>
          </p:cNvPr>
          <p:cNvCxnSpPr>
            <a:cxnSpLocks/>
          </p:cNvCxnSpPr>
          <p:nvPr/>
        </p:nvCxnSpPr>
        <p:spPr>
          <a:xfrm>
            <a:off x="548518" y="308208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5A2F9F2-DB33-48DB-A926-EE8C3656286A}"/>
              </a:ext>
            </a:extLst>
          </p:cNvPr>
          <p:cNvCxnSpPr>
            <a:cxnSpLocks/>
          </p:cNvCxnSpPr>
          <p:nvPr/>
        </p:nvCxnSpPr>
        <p:spPr>
          <a:xfrm>
            <a:off x="548518" y="3631922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A196512-3E05-4FC4-8179-549A15E0C836}"/>
              </a:ext>
            </a:extLst>
          </p:cNvPr>
          <p:cNvCxnSpPr>
            <a:cxnSpLocks/>
          </p:cNvCxnSpPr>
          <p:nvPr/>
        </p:nvCxnSpPr>
        <p:spPr>
          <a:xfrm>
            <a:off x="548518" y="4159637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5E830C1-65A0-4259-9C38-045AD0340A6C}"/>
              </a:ext>
            </a:extLst>
          </p:cNvPr>
          <p:cNvCxnSpPr>
            <a:cxnSpLocks/>
          </p:cNvCxnSpPr>
          <p:nvPr/>
        </p:nvCxnSpPr>
        <p:spPr>
          <a:xfrm>
            <a:off x="548518" y="476410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CCEFF80-5710-458D-9791-FBE5B48B0CDC}"/>
              </a:ext>
            </a:extLst>
          </p:cNvPr>
          <p:cNvCxnSpPr>
            <a:cxnSpLocks/>
          </p:cNvCxnSpPr>
          <p:nvPr/>
        </p:nvCxnSpPr>
        <p:spPr>
          <a:xfrm>
            <a:off x="548518" y="5230177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8A33A44-740F-4CB8-BBF6-DCDBD3175A95}"/>
              </a:ext>
            </a:extLst>
          </p:cNvPr>
          <p:cNvCxnSpPr>
            <a:cxnSpLocks/>
          </p:cNvCxnSpPr>
          <p:nvPr/>
        </p:nvCxnSpPr>
        <p:spPr>
          <a:xfrm>
            <a:off x="469323" y="568070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14">
            <a:extLst>
              <a:ext uri="{FF2B5EF4-FFF2-40B4-BE49-F238E27FC236}">
                <a16:creationId xmlns:a16="http://schemas.microsoft.com/office/drawing/2014/main" id="{B604C22C-FFBA-4178-A535-4DD23CD3D857}"/>
              </a:ext>
            </a:extLst>
          </p:cNvPr>
          <p:cNvSpPr/>
          <p:nvPr/>
        </p:nvSpPr>
        <p:spPr>
          <a:xfrm>
            <a:off x="950096" y="2224197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P&amp;L Service</a:t>
            </a:r>
            <a:endParaRPr lang="en-US" sz="14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FD4D04FF-D48F-4CA4-A712-928199C5A22A}"/>
              </a:ext>
            </a:extLst>
          </p:cNvPr>
          <p:cNvSpPr/>
          <p:nvPr/>
        </p:nvSpPr>
        <p:spPr>
          <a:xfrm>
            <a:off x="880862" y="2759674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Deelz</a:t>
            </a: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Sales Performance Report</a:t>
            </a:r>
            <a:endParaRPr lang="en-US" sz="140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9B41664F-ED36-4B90-9BDF-DE17A5A7D5A3}"/>
              </a:ext>
            </a:extLst>
          </p:cNvPr>
          <p:cNvSpPr/>
          <p:nvPr/>
        </p:nvSpPr>
        <p:spPr>
          <a:xfrm>
            <a:off x="880862" y="3232423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P&amp;L </a:t>
            </a:r>
            <a:r>
              <a:rPr lang="en-US" sz="1400" b="1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Deelz</a:t>
            </a:r>
            <a:endParaRPr lang="en-US" sz="14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2299B116-8101-4924-BC32-47A04866CD1E}"/>
              </a:ext>
            </a:extLst>
          </p:cNvPr>
          <p:cNvSpPr/>
          <p:nvPr/>
        </p:nvSpPr>
        <p:spPr>
          <a:xfrm>
            <a:off x="880862" y="3785326"/>
            <a:ext cx="305826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Deelz</a:t>
            </a: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Collections Report</a:t>
            </a:r>
            <a:endParaRPr lang="en-US" sz="14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D7F3CC82-2259-4534-9FBB-6C488BA04A74}"/>
              </a:ext>
            </a:extLst>
          </p:cNvPr>
          <p:cNvSpPr/>
          <p:nvPr/>
        </p:nvSpPr>
        <p:spPr>
          <a:xfrm>
            <a:off x="869482" y="4873386"/>
            <a:ext cx="265507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Deelz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 sales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EC4258F8-4A0B-4634-9C11-7703062B9C5A}"/>
              </a:ext>
            </a:extLst>
          </p:cNvPr>
          <p:cNvSpPr/>
          <p:nvPr/>
        </p:nvSpPr>
        <p:spPr>
          <a:xfrm>
            <a:off x="874828" y="4400685"/>
            <a:ext cx="265507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Deelz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dirty="0" err="1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slaes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Tax repot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0277A3BD-68BE-4B80-A577-80EC8B8EC225}"/>
              </a:ext>
            </a:extLst>
          </p:cNvPr>
          <p:cNvSpPr/>
          <p:nvPr/>
        </p:nvSpPr>
        <p:spPr>
          <a:xfrm>
            <a:off x="879211" y="5353579"/>
            <a:ext cx="310228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Inventory Analysis Report</a:t>
            </a:r>
            <a:endParaRPr lang="en-US" sz="14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92270BF0-AEF8-4CDB-AE66-4A764260DB60}"/>
              </a:ext>
            </a:extLst>
          </p:cNvPr>
          <p:cNvSpPr/>
          <p:nvPr/>
        </p:nvSpPr>
        <p:spPr>
          <a:xfrm>
            <a:off x="880861" y="5831042"/>
            <a:ext cx="3137725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Deelz</a:t>
            </a: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Inventory Analysis Report</a:t>
            </a:r>
            <a:endParaRPr lang="en-US" sz="1400" dirty="0"/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E0F9A3FE-AE02-4D19-BCCC-9239136D7100}"/>
              </a:ext>
            </a:extLst>
          </p:cNvPr>
          <p:cNvSpPr/>
          <p:nvPr/>
        </p:nvSpPr>
        <p:spPr>
          <a:xfrm>
            <a:off x="5073041" y="2570084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+ Monthly</a:t>
            </a:r>
            <a:endParaRPr lang="en-US" sz="1400" dirty="0"/>
          </a:p>
        </p:txBody>
      </p:sp>
      <p:sp>
        <p:nvSpPr>
          <p:cNvPr id="51" name="Text 35">
            <a:extLst>
              <a:ext uri="{FF2B5EF4-FFF2-40B4-BE49-F238E27FC236}">
                <a16:creationId xmlns:a16="http://schemas.microsoft.com/office/drawing/2014/main" id="{FB4FBFCE-BC86-4413-B67F-32B1D058E591}"/>
              </a:ext>
            </a:extLst>
          </p:cNvPr>
          <p:cNvSpPr/>
          <p:nvPr/>
        </p:nvSpPr>
        <p:spPr>
          <a:xfrm>
            <a:off x="5070440" y="1562070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+ Monthly</a:t>
            </a:r>
            <a:endParaRPr lang="en-US" sz="1400" dirty="0"/>
          </a:p>
        </p:txBody>
      </p:sp>
      <p:sp>
        <p:nvSpPr>
          <p:cNvPr id="54" name="Text 35">
            <a:extLst>
              <a:ext uri="{FF2B5EF4-FFF2-40B4-BE49-F238E27FC236}">
                <a16:creationId xmlns:a16="http://schemas.microsoft.com/office/drawing/2014/main" id="{73BDC7DB-C2B2-4569-9DF6-FF25595243CE}"/>
              </a:ext>
            </a:extLst>
          </p:cNvPr>
          <p:cNvSpPr/>
          <p:nvPr/>
        </p:nvSpPr>
        <p:spPr>
          <a:xfrm>
            <a:off x="5073041" y="2103413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400" dirty="0"/>
          </a:p>
        </p:txBody>
      </p:sp>
      <p:sp>
        <p:nvSpPr>
          <p:cNvPr id="56" name="Text 35">
            <a:extLst>
              <a:ext uri="{FF2B5EF4-FFF2-40B4-BE49-F238E27FC236}">
                <a16:creationId xmlns:a16="http://schemas.microsoft.com/office/drawing/2014/main" id="{9EFBAED4-9AAA-4ADF-906F-E38B254A5ECC}"/>
              </a:ext>
            </a:extLst>
          </p:cNvPr>
          <p:cNvSpPr/>
          <p:nvPr/>
        </p:nvSpPr>
        <p:spPr>
          <a:xfrm>
            <a:off x="5091079" y="3142039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400" dirty="0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DFA3FB5A-8BD4-434E-ACC2-6BB7388DBCAE}"/>
              </a:ext>
            </a:extLst>
          </p:cNvPr>
          <p:cNvSpPr/>
          <p:nvPr/>
        </p:nvSpPr>
        <p:spPr>
          <a:xfrm>
            <a:off x="5086739" y="3672044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1400" dirty="0"/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12073EF4-C3BE-4C8F-8E3C-3BA181311C33}"/>
              </a:ext>
            </a:extLst>
          </p:cNvPr>
          <p:cNvSpPr/>
          <p:nvPr/>
        </p:nvSpPr>
        <p:spPr>
          <a:xfrm>
            <a:off x="5086645" y="4219180"/>
            <a:ext cx="1381116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9" name="Text 35">
            <a:extLst>
              <a:ext uri="{FF2B5EF4-FFF2-40B4-BE49-F238E27FC236}">
                <a16:creationId xmlns:a16="http://schemas.microsoft.com/office/drawing/2014/main" id="{C5FE47F5-7E65-44D2-A9E0-10817E855463}"/>
              </a:ext>
            </a:extLst>
          </p:cNvPr>
          <p:cNvSpPr/>
          <p:nvPr/>
        </p:nvSpPr>
        <p:spPr>
          <a:xfrm>
            <a:off x="5073041" y="4730723"/>
            <a:ext cx="1381116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Time weekly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0" name="Text 35">
            <a:extLst>
              <a:ext uri="{FF2B5EF4-FFF2-40B4-BE49-F238E27FC236}">
                <a16:creationId xmlns:a16="http://schemas.microsoft.com/office/drawing/2014/main" id="{2FB3679E-E060-4738-B3AD-13691493CFD8}"/>
              </a:ext>
            </a:extLst>
          </p:cNvPr>
          <p:cNvSpPr/>
          <p:nvPr/>
        </p:nvSpPr>
        <p:spPr>
          <a:xfrm>
            <a:off x="5072838" y="5181481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</a:t>
            </a:r>
            <a:endParaRPr lang="en-US" sz="1400" dirty="0"/>
          </a:p>
        </p:txBody>
      </p:sp>
      <p:sp>
        <p:nvSpPr>
          <p:cNvPr id="65" name="Text 35">
            <a:extLst>
              <a:ext uri="{FF2B5EF4-FFF2-40B4-BE49-F238E27FC236}">
                <a16:creationId xmlns:a16="http://schemas.microsoft.com/office/drawing/2014/main" id="{F6FDB444-65BD-4C50-B783-640B8A4262E7}"/>
              </a:ext>
            </a:extLst>
          </p:cNvPr>
          <p:cNvSpPr/>
          <p:nvPr/>
        </p:nvSpPr>
        <p:spPr>
          <a:xfrm>
            <a:off x="5053405" y="5690690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</a:t>
            </a:r>
            <a:endParaRPr lang="en-US" sz="1400" dirty="0"/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3158C228-CBD5-4857-B76A-5FE4471035E4}"/>
              </a:ext>
            </a:extLst>
          </p:cNvPr>
          <p:cNvSpPr/>
          <p:nvPr/>
        </p:nvSpPr>
        <p:spPr>
          <a:xfrm>
            <a:off x="7469310" y="2118081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Head</a:t>
            </a:r>
            <a:endParaRPr lang="en-US" sz="1400" dirty="0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A7FD0C89-A05F-490C-B4A5-0EAC2F4D5BF3}"/>
              </a:ext>
            </a:extLst>
          </p:cNvPr>
          <p:cNvSpPr/>
          <p:nvPr/>
        </p:nvSpPr>
        <p:spPr>
          <a:xfrm>
            <a:off x="7222691" y="2631177"/>
            <a:ext cx="3390903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&amp; Sector Heads</a:t>
            </a:r>
            <a:endParaRPr lang="en-US" sz="1400" dirty="0"/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FF6883BB-3834-40F0-A572-02093F478A04}"/>
              </a:ext>
            </a:extLst>
          </p:cNvPr>
          <p:cNvSpPr/>
          <p:nvPr/>
        </p:nvSpPr>
        <p:spPr>
          <a:xfrm>
            <a:off x="7599376" y="3162781"/>
            <a:ext cx="2637534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Head</a:t>
            </a:r>
            <a:endParaRPr lang="en-US" sz="1400" dirty="0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C9E9A298-7601-4DC7-967C-1888D5029751}"/>
              </a:ext>
            </a:extLst>
          </p:cNvPr>
          <p:cNvSpPr/>
          <p:nvPr/>
        </p:nvSpPr>
        <p:spPr>
          <a:xfrm>
            <a:off x="7113975" y="4289106"/>
            <a:ext cx="2762259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 department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0" name="Text 16">
            <a:extLst>
              <a:ext uri="{FF2B5EF4-FFF2-40B4-BE49-F238E27FC236}">
                <a16:creationId xmlns:a16="http://schemas.microsoft.com/office/drawing/2014/main" id="{352ECB89-CE73-4422-AAD1-BA96360E2D38}"/>
              </a:ext>
            </a:extLst>
          </p:cNvPr>
          <p:cNvSpPr/>
          <p:nvPr/>
        </p:nvSpPr>
        <p:spPr>
          <a:xfrm>
            <a:off x="7457407" y="4812310"/>
            <a:ext cx="2762259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Department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E0159A28-15D6-4C76-9A88-288DF6746058}"/>
              </a:ext>
            </a:extLst>
          </p:cNvPr>
          <p:cNvSpPr/>
          <p:nvPr/>
        </p:nvSpPr>
        <p:spPr>
          <a:xfrm>
            <a:off x="6934122" y="5221735"/>
            <a:ext cx="3390904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manager &amp; Sector Heads</a:t>
            </a:r>
            <a:endParaRPr lang="en-US" sz="1400" dirty="0"/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AE36CDAA-1522-48FD-82DA-B3451A5A477A}"/>
              </a:ext>
            </a:extLst>
          </p:cNvPr>
          <p:cNvSpPr/>
          <p:nvPr/>
        </p:nvSpPr>
        <p:spPr>
          <a:xfrm>
            <a:off x="6982679" y="5707914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manager &amp; Sector Heads</a:t>
            </a:r>
            <a:endParaRPr lang="en-US" sz="1400" dirty="0"/>
          </a:p>
        </p:txBody>
      </p:sp>
      <p:sp>
        <p:nvSpPr>
          <p:cNvPr id="73" name="Text 16">
            <a:extLst>
              <a:ext uri="{FF2B5EF4-FFF2-40B4-BE49-F238E27FC236}">
                <a16:creationId xmlns:a16="http://schemas.microsoft.com/office/drawing/2014/main" id="{50E3F0D6-D6D8-4F2D-90E6-C2741B80EA4C}"/>
              </a:ext>
            </a:extLst>
          </p:cNvPr>
          <p:cNvSpPr/>
          <p:nvPr/>
        </p:nvSpPr>
        <p:spPr>
          <a:xfrm>
            <a:off x="6840666" y="3706173"/>
            <a:ext cx="3349582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 Head &amp; Department Managers</a:t>
            </a:r>
            <a:endParaRPr lang="en-US" sz="1400" dirty="0"/>
          </a:p>
        </p:txBody>
      </p:sp>
      <p:sp>
        <p:nvSpPr>
          <p:cNvPr id="80" name="Text 28">
            <a:extLst>
              <a:ext uri="{FF2B5EF4-FFF2-40B4-BE49-F238E27FC236}">
                <a16:creationId xmlns:a16="http://schemas.microsoft.com/office/drawing/2014/main" id="{39FAAD94-DFC8-4C89-9E6D-0B2BA4FAB1BC}"/>
              </a:ext>
            </a:extLst>
          </p:cNvPr>
          <p:cNvSpPr/>
          <p:nvPr/>
        </p:nvSpPr>
        <p:spPr>
          <a:xfrm>
            <a:off x="10907663" y="2211523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74" name="Shape 42">
            <a:extLst>
              <a:ext uri="{FF2B5EF4-FFF2-40B4-BE49-F238E27FC236}">
                <a16:creationId xmlns:a16="http://schemas.microsoft.com/office/drawing/2014/main" id="{D483656F-8876-479D-B769-0040289BA32A}"/>
              </a:ext>
            </a:extLst>
          </p:cNvPr>
          <p:cNvSpPr/>
          <p:nvPr/>
        </p:nvSpPr>
        <p:spPr>
          <a:xfrm>
            <a:off x="10235827" y="1682844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43">
            <a:extLst>
              <a:ext uri="{FF2B5EF4-FFF2-40B4-BE49-F238E27FC236}">
                <a16:creationId xmlns:a16="http://schemas.microsoft.com/office/drawing/2014/main" id="{2F06C22E-1D58-4581-8C4A-3998173BC616}"/>
              </a:ext>
            </a:extLst>
          </p:cNvPr>
          <p:cNvSpPr/>
          <p:nvPr/>
        </p:nvSpPr>
        <p:spPr>
          <a:xfrm>
            <a:off x="10190248" y="1702301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76" name="Shape 42">
            <a:extLst>
              <a:ext uri="{FF2B5EF4-FFF2-40B4-BE49-F238E27FC236}">
                <a16:creationId xmlns:a16="http://schemas.microsoft.com/office/drawing/2014/main" id="{0363B1B3-5FD5-47F3-9A0E-397CBB91D477}"/>
              </a:ext>
            </a:extLst>
          </p:cNvPr>
          <p:cNvSpPr/>
          <p:nvPr/>
        </p:nvSpPr>
        <p:spPr>
          <a:xfrm>
            <a:off x="10158829" y="2774367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43">
            <a:extLst>
              <a:ext uri="{FF2B5EF4-FFF2-40B4-BE49-F238E27FC236}">
                <a16:creationId xmlns:a16="http://schemas.microsoft.com/office/drawing/2014/main" id="{64876642-43D9-4103-B470-4DA5CD3F8558}"/>
              </a:ext>
            </a:extLst>
          </p:cNvPr>
          <p:cNvSpPr/>
          <p:nvPr/>
        </p:nvSpPr>
        <p:spPr>
          <a:xfrm>
            <a:off x="10113250" y="2793824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78" name="Shape 42">
            <a:extLst>
              <a:ext uri="{FF2B5EF4-FFF2-40B4-BE49-F238E27FC236}">
                <a16:creationId xmlns:a16="http://schemas.microsoft.com/office/drawing/2014/main" id="{0542B43C-4453-43E4-A5BA-CCC3BDB516C9}"/>
              </a:ext>
            </a:extLst>
          </p:cNvPr>
          <p:cNvSpPr/>
          <p:nvPr/>
        </p:nvSpPr>
        <p:spPr>
          <a:xfrm>
            <a:off x="10204408" y="3771333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43">
            <a:extLst>
              <a:ext uri="{FF2B5EF4-FFF2-40B4-BE49-F238E27FC236}">
                <a16:creationId xmlns:a16="http://schemas.microsoft.com/office/drawing/2014/main" id="{72E87D11-8340-4DD2-B86A-EDC9EF9C7C57}"/>
              </a:ext>
            </a:extLst>
          </p:cNvPr>
          <p:cNvSpPr/>
          <p:nvPr/>
        </p:nvSpPr>
        <p:spPr>
          <a:xfrm>
            <a:off x="10158829" y="3790790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88" name="Shape 42">
            <a:extLst>
              <a:ext uri="{FF2B5EF4-FFF2-40B4-BE49-F238E27FC236}">
                <a16:creationId xmlns:a16="http://schemas.microsoft.com/office/drawing/2014/main" id="{B0544B3A-030F-4B9F-8E0C-8F76D3930CE4}"/>
              </a:ext>
            </a:extLst>
          </p:cNvPr>
          <p:cNvSpPr/>
          <p:nvPr/>
        </p:nvSpPr>
        <p:spPr>
          <a:xfrm>
            <a:off x="9893832" y="2218119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Shape 37">
            <a:extLst>
              <a:ext uri="{FF2B5EF4-FFF2-40B4-BE49-F238E27FC236}">
                <a16:creationId xmlns:a16="http://schemas.microsoft.com/office/drawing/2014/main" id="{D4C7D678-9FF2-407F-89F5-87B7FB02361A}"/>
              </a:ext>
            </a:extLst>
          </p:cNvPr>
          <p:cNvSpPr/>
          <p:nvPr/>
        </p:nvSpPr>
        <p:spPr>
          <a:xfrm>
            <a:off x="10869279" y="2219745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43">
            <a:extLst>
              <a:ext uri="{FF2B5EF4-FFF2-40B4-BE49-F238E27FC236}">
                <a16:creationId xmlns:a16="http://schemas.microsoft.com/office/drawing/2014/main" id="{F80EEDAF-0E35-4B52-9708-DF3E0AC67035}"/>
              </a:ext>
            </a:extLst>
          </p:cNvPr>
          <p:cNvSpPr/>
          <p:nvPr/>
        </p:nvSpPr>
        <p:spPr>
          <a:xfrm>
            <a:off x="9848253" y="2237576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91" name="Text 28">
            <a:extLst>
              <a:ext uri="{FF2B5EF4-FFF2-40B4-BE49-F238E27FC236}">
                <a16:creationId xmlns:a16="http://schemas.microsoft.com/office/drawing/2014/main" id="{D9369BD1-05A1-49BA-8E34-EE612ECB1943}"/>
              </a:ext>
            </a:extLst>
          </p:cNvPr>
          <p:cNvSpPr/>
          <p:nvPr/>
        </p:nvSpPr>
        <p:spPr>
          <a:xfrm>
            <a:off x="10945809" y="2228529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92" name="Shape 42">
            <a:extLst>
              <a:ext uri="{FF2B5EF4-FFF2-40B4-BE49-F238E27FC236}">
                <a16:creationId xmlns:a16="http://schemas.microsoft.com/office/drawing/2014/main" id="{1FFF23C0-CCEB-4387-B49F-6B0CE40D2CC7}"/>
              </a:ext>
            </a:extLst>
          </p:cNvPr>
          <p:cNvSpPr/>
          <p:nvPr/>
        </p:nvSpPr>
        <p:spPr>
          <a:xfrm>
            <a:off x="9929360" y="3276500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Shape 37">
            <a:extLst>
              <a:ext uri="{FF2B5EF4-FFF2-40B4-BE49-F238E27FC236}">
                <a16:creationId xmlns:a16="http://schemas.microsoft.com/office/drawing/2014/main" id="{BE4A87E4-B6E4-4BFB-9A09-149882F16C25}"/>
              </a:ext>
            </a:extLst>
          </p:cNvPr>
          <p:cNvSpPr/>
          <p:nvPr/>
        </p:nvSpPr>
        <p:spPr>
          <a:xfrm>
            <a:off x="10904807" y="3278126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43">
            <a:extLst>
              <a:ext uri="{FF2B5EF4-FFF2-40B4-BE49-F238E27FC236}">
                <a16:creationId xmlns:a16="http://schemas.microsoft.com/office/drawing/2014/main" id="{E17D71BA-5EBB-4293-8438-98CF98F37350}"/>
              </a:ext>
            </a:extLst>
          </p:cNvPr>
          <p:cNvSpPr/>
          <p:nvPr/>
        </p:nvSpPr>
        <p:spPr>
          <a:xfrm>
            <a:off x="9883781" y="3295957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95" name="Text 28">
            <a:extLst>
              <a:ext uri="{FF2B5EF4-FFF2-40B4-BE49-F238E27FC236}">
                <a16:creationId xmlns:a16="http://schemas.microsoft.com/office/drawing/2014/main" id="{86B19AE9-5515-4ADB-81BE-72098EB59AD9}"/>
              </a:ext>
            </a:extLst>
          </p:cNvPr>
          <p:cNvSpPr/>
          <p:nvPr/>
        </p:nvSpPr>
        <p:spPr>
          <a:xfrm>
            <a:off x="10981337" y="3286910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96" name="Shape 42">
            <a:extLst>
              <a:ext uri="{FF2B5EF4-FFF2-40B4-BE49-F238E27FC236}">
                <a16:creationId xmlns:a16="http://schemas.microsoft.com/office/drawing/2014/main" id="{4DC5A4D9-C73A-40B6-A1E1-217B5F91C0DF}"/>
              </a:ext>
            </a:extLst>
          </p:cNvPr>
          <p:cNvSpPr/>
          <p:nvPr/>
        </p:nvSpPr>
        <p:spPr>
          <a:xfrm>
            <a:off x="9852830" y="5814383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Shape 37">
            <a:extLst>
              <a:ext uri="{FF2B5EF4-FFF2-40B4-BE49-F238E27FC236}">
                <a16:creationId xmlns:a16="http://schemas.microsoft.com/office/drawing/2014/main" id="{C12AC845-9060-4F33-896F-D92B91C526E0}"/>
              </a:ext>
            </a:extLst>
          </p:cNvPr>
          <p:cNvSpPr/>
          <p:nvPr/>
        </p:nvSpPr>
        <p:spPr>
          <a:xfrm>
            <a:off x="10828277" y="5816009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43">
            <a:extLst>
              <a:ext uri="{FF2B5EF4-FFF2-40B4-BE49-F238E27FC236}">
                <a16:creationId xmlns:a16="http://schemas.microsoft.com/office/drawing/2014/main" id="{B9430B81-C012-4969-847F-B4A5369D31AD}"/>
              </a:ext>
            </a:extLst>
          </p:cNvPr>
          <p:cNvSpPr/>
          <p:nvPr/>
        </p:nvSpPr>
        <p:spPr>
          <a:xfrm>
            <a:off x="9807251" y="5833840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99" name="Text 28">
            <a:extLst>
              <a:ext uri="{FF2B5EF4-FFF2-40B4-BE49-F238E27FC236}">
                <a16:creationId xmlns:a16="http://schemas.microsoft.com/office/drawing/2014/main" id="{F391D162-DF31-4F96-B5D4-E858762EFE50}"/>
              </a:ext>
            </a:extLst>
          </p:cNvPr>
          <p:cNvSpPr/>
          <p:nvPr/>
        </p:nvSpPr>
        <p:spPr>
          <a:xfrm>
            <a:off x="10904807" y="5824793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100" name="Shape 42">
            <a:extLst>
              <a:ext uri="{FF2B5EF4-FFF2-40B4-BE49-F238E27FC236}">
                <a16:creationId xmlns:a16="http://schemas.microsoft.com/office/drawing/2014/main" id="{722C1D6F-47FD-45C6-957F-A9787B6035D8}"/>
              </a:ext>
            </a:extLst>
          </p:cNvPr>
          <p:cNvSpPr/>
          <p:nvPr/>
        </p:nvSpPr>
        <p:spPr>
          <a:xfrm>
            <a:off x="9866868" y="5340229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Shape 37">
            <a:extLst>
              <a:ext uri="{FF2B5EF4-FFF2-40B4-BE49-F238E27FC236}">
                <a16:creationId xmlns:a16="http://schemas.microsoft.com/office/drawing/2014/main" id="{6C813D87-BAFF-4E8D-9A0A-2DE0DA68578E}"/>
              </a:ext>
            </a:extLst>
          </p:cNvPr>
          <p:cNvSpPr/>
          <p:nvPr/>
        </p:nvSpPr>
        <p:spPr>
          <a:xfrm>
            <a:off x="10842315" y="5341855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43">
            <a:extLst>
              <a:ext uri="{FF2B5EF4-FFF2-40B4-BE49-F238E27FC236}">
                <a16:creationId xmlns:a16="http://schemas.microsoft.com/office/drawing/2014/main" id="{CE4868EB-A028-429C-82B3-F723C90BF838}"/>
              </a:ext>
            </a:extLst>
          </p:cNvPr>
          <p:cNvSpPr/>
          <p:nvPr/>
        </p:nvSpPr>
        <p:spPr>
          <a:xfrm>
            <a:off x="9821289" y="5359686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03" name="Text 28">
            <a:extLst>
              <a:ext uri="{FF2B5EF4-FFF2-40B4-BE49-F238E27FC236}">
                <a16:creationId xmlns:a16="http://schemas.microsoft.com/office/drawing/2014/main" id="{B1C60E7D-BCDB-4133-AF29-8F89FDDEE3DC}"/>
              </a:ext>
            </a:extLst>
          </p:cNvPr>
          <p:cNvSpPr/>
          <p:nvPr/>
        </p:nvSpPr>
        <p:spPr>
          <a:xfrm>
            <a:off x="10918845" y="5350639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104" name="Shape 37">
            <a:extLst>
              <a:ext uri="{FF2B5EF4-FFF2-40B4-BE49-F238E27FC236}">
                <a16:creationId xmlns:a16="http://schemas.microsoft.com/office/drawing/2014/main" id="{BE397309-9BBB-4CEA-89A9-24EFC19E439D}"/>
              </a:ext>
            </a:extLst>
          </p:cNvPr>
          <p:cNvSpPr/>
          <p:nvPr/>
        </p:nvSpPr>
        <p:spPr>
          <a:xfrm>
            <a:off x="10201040" y="4303993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Text 28">
            <a:extLst>
              <a:ext uri="{FF2B5EF4-FFF2-40B4-BE49-F238E27FC236}">
                <a16:creationId xmlns:a16="http://schemas.microsoft.com/office/drawing/2014/main" id="{8EB0E9CD-CBDB-45C9-95E2-D472C08B06EB}"/>
              </a:ext>
            </a:extLst>
          </p:cNvPr>
          <p:cNvSpPr/>
          <p:nvPr/>
        </p:nvSpPr>
        <p:spPr>
          <a:xfrm>
            <a:off x="10277570" y="4312777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106" name="Shape 37">
            <a:extLst>
              <a:ext uri="{FF2B5EF4-FFF2-40B4-BE49-F238E27FC236}">
                <a16:creationId xmlns:a16="http://schemas.microsoft.com/office/drawing/2014/main" id="{1AD8CDD2-5CFE-421F-B952-2A6A1A6C55CA}"/>
              </a:ext>
            </a:extLst>
          </p:cNvPr>
          <p:cNvSpPr/>
          <p:nvPr/>
        </p:nvSpPr>
        <p:spPr>
          <a:xfrm>
            <a:off x="10209873" y="4892681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28">
            <a:extLst>
              <a:ext uri="{FF2B5EF4-FFF2-40B4-BE49-F238E27FC236}">
                <a16:creationId xmlns:a16="http://schemas.microsoft.com/office/drawing/2014/main" id="{E5815A2D-2F55-4444-977E-F1D54F9ED55A}"/>
              </a:ext>
            </a:extLst>
          </p:cNvPr>
          <p:cNvSpPr/>
          <p:nvPr/>
        </p:nvSpPr>
        <p:spPr>
          <a:xfrm>
            <a:off x="10286403" y="4901465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0232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27F792BB-FA7B-4C9A-984B-C41D76EF7B2F}"/>
              </a:ext>
            </a:extLst>
          </p:cNvPr>
          <p:cNvSpPr/>
          <p:nvPr/>
        </p:nvSpPr>
        <p:spPr>
          <a:xfrm>
            <a:off x="767672" y="428625"/>
            <a:ext cx="8715375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00" dirty="0">
                <a:latin typeface="Impact" panose="020B0806030902050204" pitchFamily="34" charset="0"/>
                <a:ea typeface="+mj-ea"/>
                <a:cs typeface="+mj-cs"/>
              </a:rPr>
              <a:t>FINANCIAL REPORTING MATRIX</a:t>
            </a: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41338B18-4440-4A97-9CCC-EE6D365B2F2E}"/>
              </a:ext>
            </a:extLst>
          </p:cNvPr>
          <p:cNvSpPr/>
          <p:nvPr/>
        </p:nvSpPr>
        <p:spPr>
          <a:xfrm>
            <a:off x="0" y="1078299"/>
            <a:ext cx="12192000" cy="71130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AECC0A29-37D6-4BAB-A382-E42AE9ABE19B}"/>
              </a:ext>
            </a:extLst>
          </p:cNvPr>
          <p:cNvSpPr/>
          <p:nvPr/>
        </p:nvSpPr>
        <p:spPr>
          <a:xfrm>
            <a:off x="548518" y="1103708"/>
            <a:ext cx="3655462" cy="492833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CEB5A4C-F03B-44C7-B310-D042B2727C74}"/>
              </a:ext>
            </a:extLst>
          </p:cNvPr>
          <p:cNvSpPr/>
          <p:nvPr/>
        </p:nvSpPr>
        <p:spPr>
          <a:xfrm>
            <a:off x="767673" y="1093435"/>
            <a:ext cx="3115958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REPORT NAME</a:t>
            </a: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81A82577-7D83-4458-96A9-28C0AEC12AEF}"/>
              </a:ext>
            </a:extLst>
          </p:cNvPr>
          <p:cNvSpPr/>
          <p:nvPr/>
        </p:nvSpPr>
        <p:spPr>
          <a:xfrm>
            <a:off x="4285325" y="1132198"/>
            <a:ext cx="2555341" cy="464344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04637816-3BAE-4BE6-BEB2-4DD969E75D35}"/>
              </a:ext>
            </a:extLst>
          </p:cNvPr>
          <p:cNvSpPr/>
          <p:nvPr/>
        </p:nvSpPr>
        <p:spPr>
          <a:xfrm flipH="1">
            <a:off x="7767235" y="456445"/>
            <a:ext cx="153306" cy="464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FAB81CF-F4CA-4F97-AE04-23FB8DC5F6E4}"/>
              </a:ext>
            </a:extLst>
          </p:cNvPr>
          <p:cNvSpPr/>
          <p:nvPr/>
        </p:nvSpPr>
        <p:spPr>
          <a:xfrm>
            <a:off x="4752497" y="1113864"/>
            <a:ext cx="1779931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FREQUENCY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82FE9BF-3D08-49B5-A18D-2A30C5B0622F}"/>
              </a:ext>
            </a:extLst>
          </p:cNvPr>
          <p:cNvSpPr/>
          <p:nvPr/>
        </p:nvSpPr>
        <p:spPr>
          <a:xfrm>
            <a:off x="6934122" y="1133932"/>
            <a:ext cx="2762259" cy="464344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94F248E1-E49A-426A-B1B3-574C8E464D18}"/>
              </a:ext>
            </a:extLst>
          </p:cNvPr>
          <p:cNvSpPr/>
          <p:nvPr/>
        </p:nvSpPr>
        <p:spPr>
          <a:xfrm>
            <a:off x="7714763" y="1133932"/>
            <a:ext cx="1779931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bg1"/>
                </a:solidFill>
              </a:rPr>
              <a:t>RECIPIENT</a:t>
            </a:r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F52DF92C-A6A4-4237-BE9F-F04E86C81794}"/>
              </a:ext>
            </a:extLst>
          </p:cNvPr>
          <p:cNvSpPr/>
          <p:nvPr/>
        </p:nvSpPr>
        <p:spPr>
          <a:xfrm>
            <a:off x="9789670" y="1113864"/>
            <a:ext cx="1853812" cy="484412"/>
          </a:xfrm>
          <a:prstGeom prst="rect">
            <a:avLst/>
          </a:prstGeom>
          <a:solidFill>
            <a:srgbClr val="1A2B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14A75594-FCA2-403C-A9F2-3B3AE016D6D9}"/>
              </a:ext>
            </a:extLst>
          </p:cNvPr>
          <p:cNvSpPr/>
          <p:nvPr/>
        </p:nvSpPr>
        <p:spPr>
          <a:xfrm>
            <a:off x="10262366" y="1126569"/>
            <a:ext cx="1381116" cy="436530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TYPE</a:t>
            </a: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3D15B085-3401-4531-9FB9-9461B451D2B0}"/>
              </a:ext>
            </a:extLst>
          </p:cNvPr>
          <p:cNvSpPr/>
          <p:nvPr/>
        </p:nvSpPr>
        <p:spPr>
          <a:xfrm>
            <a:off x="231776" y="1707859"/>
            <a:ext cx="4091716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Purchase Orders Report – </a:t>
            </a:r>
            <a:r>
              <a:rPr lang="en-US" sz="1200" b="1" dirty="0" err="1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Deelz</a:t>
            </a:r>
            <a:r>
              <a:rPr lang="en-US" sz="1200" b="1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&amp; Commercial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7BF2F55-A69C-48BD-926B-C834D970337B}"/>
              </a:ext>
            </a:extLst>
          </p:cNvPr>
          <p:cNvSpPr/>
          <p:nvPr/>
        </p:nvSpPr>
        <p:spPr>
          <a:xfrm>
            <a:off x="7031862" y="1627822"/>
            <a:ext cx="2762259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manager &amp; Sector Heads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AC37E9-2BA2-4D05-B459-6AA1CCF9B0F7}"/>
              </a:ext>
            </a:extLst>
          </p:cNvPr>
          <p:cNvCxnSpPr>
            <a:cxnSpLocks/>
          </p:cNvCxnSpPr>
          <p:nvPr/>
        </p:nvCxnSpPr>
        <p:spPr>
          <a:xfrm flipH="1">
            <a:off x="4203980" y="1594001"/>
            <a:ext cx="40249" cy="48889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3AC0B7-C101-40D2-BC33-ED174CD52FC7}"/>
              </a:ext>
            </a:extLst>
          </p:cNvPr>
          <p:cNvCxnSpPr>
            <a:cxnSpLocks/>
          </p:cNvCxnSpPr>
          <p:nvPr/>
        </p:nvCxnSpPr>
        <p:spPr>
          <a:xfrm>
            <a:off x="548518" y="1594001"/>
            <a:ext cx="11094964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06E9F04-FC9B-4927-BEC1-0B1093A098A7}"/>
              </a:ext>
            </a:extLst>
          </p:cNvPr>
          <p:cNvCxnSpPr>
            <a:cxnSpLocks/>
          </p:cNvCxnSpPr>
          <p:nvPr/>
        </p:nvCxnSpPr>
        <p:spPr>
          <a:xfrm>
            <a:off x="6881762" y="1580736"/>
            <a:ext cx="0" cy="49022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549C3D6-F3F5-4208-B2B0-F7F267CB2557}"/>
              </a:ext>
            </a:extLst>
          </p:cNvPr>
          <p:cNvCxnSpPr>
            <a:cxnSpLocks/>
          </p:cNvCxnSpPr>
          <p:nvPr/>
        </p:nvCxnSpPr>
        <p:spPr>
          <a:xfrm>
            <a:off x="9744938" y="1581335"/>
            <a:ext cx="0" cy="49016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2A529E9-AE0C-48C3-9FCD-9AEC70A72595}"/>
              </a:ext>
            </a:extLst>
          </p:cNvPr>
          <p:cNvCxnSpPr>
            <a:cxnSpLocks/>
          </p:cNvCxnSpPr>
          <p:nvPr/>
        </p:nvCxnSpPr>
        <p:spPr>
          <a:xfrm>
            <a:off x="548518" y="2068363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76DC7D9-E225-4FB8-93F8-829F1A6F737D}"/>
              </a:ext>
            </a:extLst>
          </p:cNvPr>
          <p:cNvCxnSpPr>
            <a:cxnSpLocks/>
          </p:cNvCxnSpPr>
          <p:nvPr/>
        </p:nvCxnSpPr>
        <p:spPr>
          <a:xfrm>
            <a:off x="548518" y="2580359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77890C7-C5C4-49DB-8E8A-A728C1372AF4}"/>
              </a:ext>
            </a:extLst>
          </p:cNvPr>
          <p:cNvCxnSpPr>
            <a:cxnSpLocks/>
          </p:cNvCxnSpPr>
          <p:nvPr/>
        </p:nvCxnSpPr>
        <p:spPr>
          <a:xfrm>
            <a:off x="548518" y="308208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5A2F9F2-DB33-48DB-A926-EE8C3656286A}"/>
              </a:ext>
            </a:extLst>
          </p:cNvPr>
          <p:cNvCxnSpPr>
            <a:cxnSpLocks/>
          </p:cNvCxnSpPr>
          <p:nvPr/>
        </p:nvCxnSpPr>
        <p:spPr>
          <a:xfrm>
            <a:off x="548518" y="3631922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A196512-3E05-4FC4-8179-549A15E0C836}"/>
              </a:ext>
            </a:extLst>
          </p:cNvPr>
          <p:cNvCxnSpPr>
            <a:cxnSpLocks/>
          </p:cNvCxnSpPr>
          <p:nvPr/>
        </p:nvCxnSpPr>
        <p:spPr>
          <a:xfrm>
            <a:off x="548518" y="4159637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5E830C1-65A0-4259-9C38-045AD0340A6C}"/>
              </a:ext>
            </a:extLst>
          </p:cNvPr>
          <p:cNvCxnSpPr>
            <a:cxnSpLocks/>
          </p:cNvCxnSpPr>
          <p:nvPr/>
        </p:nvCxnSpPr>
        <p:spPr>
          <a:xfrm>
            <a:off x="548518" y="476410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CCEFF80-5710-458D-9791-FBE5B48B0CDC}"/>
              </a:ext>
            </a:extLst>
          </p:cNvPr>
          <p:cNvCxnSpPr>
            <a:cxnSpLocks/>
          </p:cNvCxnSpPr>
          <p:nvPr/>
        </p:nvCxnSpPr>
        <p:spPr>
          <a:xfrm>
            <a:off x="548518" y="5230177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8A33A44-740F-4CB8-BBF6-DCDBD3175A95}"/>
              </a:ext>
            </a:extLst>
          </p:cNvPr>
          <p:cNvCxnSpPr>
            <a:cxnSpLocks/>
          </p:cNvCxnSpPr>
          <p:nvPr/>
        </p:nvCxnSpPr>
        <p:spPr>
          <a:xfrm>
            <a:off x="469323" y="5680700"/>
            <a:ext cx="11094964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14">
            <a:extLst>
              <a:ext uri="{FF2B5EF4-FFF2-40B4-BE49-F238E27FC236}">
                <a16:creationId xmlns:a16="http://schemas.microsoft.com/office/drawing/2014/main" id="{B604C22C-FFBA-4178-A535-4DD23CD3D857}"/>
              </a:ext>
            </a:extLst>
          </p:cNvPr>
          <p:cNvSpPr/>
          <p:nvPr/>
        </p:nvSpPr>
        <p:spPr>
          <a:xfrm>
            <a:off x="1288784" y="2244392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DOH Report</a:t>
            </a:r>
            <a:endParaRPr lang="en-US" sz="14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FD4D04FF-D48F-4CA4-A712-928199C5A22A}"/>
              </a:ext>
            </a:extLst>
          </p:cNvPr>
          <p:cNvSpPr/>
          <p:nvPr/>
        </p:nvSpPr>
        <p:spPr>
          <a:xfrm>
            <a:off x="1398805" y="2770941"/>
            <a:ext cx="2655076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Deelz</a:t>
            </a: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DOH Report</a:t>
            </a:r>
            <a:endParaRPr lang="en-US" sz="140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9B41664F-ED36-4B90-9BDF-DE17A5A7D5A3}"/>
              </a:ext>
            </a:extLst>
          </p:cNvPr>
          <p:cNvSpPr/>
          <p:nvPr/>
        </p:nvSpPr>
        <p:spPr>
          <a:xfrm>
            <a:off x="503787" y="3232423"/>
            <a:ext cx="3647833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Deelz Inventory Ratio</a:t>
            </a:r>
            <a:endParaRPr lang="en-US" sz="14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2299B116-8101-4924-BC32-47A04866CD1E}"/>
              </a:ext>
            </a:extLst>
          </p:cNvPr>
          <p:cNvSpPr/>
          <p:nvPr/>
        </p:nvSpPr>
        <p:spPr>
          <a:xfrm>
            <a:off x="880862" y="3785326"/>
            <a:ext cx="305826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Deelz</a:t>
            </a: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Non-Listed Items Report</a:t>
            </a:r>
            <a:endParaRPr lang="en-US" sz="14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EC4258F8-4A0B-4634-9C11-7703062B9C5A}"/>
              </a:ext>
            </a:extLst>
          </p:cNvPr>
          <p:cNvSpPr/>
          <p:nvPr/>
        </p:nvSpPr>
        <p:spPr>
          <a:xfrm>
            <a:off x="874828" y="4400685"/>
            <a:ext cx="3064294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Non-Listed Items Report</a:t>
            </a:r>
            <a:endParaRPr lang="en-US" sz="1400" dirty="0"/>
          </a:p>
        </p:txBody>
      </p:sp>
      <p:sp>
        <p:nvSpPr>
          <p:cNvPr id="48" name="Text 35">
            <a:extLst>
              <a:ext uri="{FF2B5EF4-FFF2-40B4-BE49-F238E27FC236}">
                <a16:creationId xmlns:a16="http://schemas.microsoft.com/office/drawing/2014/main" id="{E0F9A3FE-AE02-4D19-BCCC-9239136D7100}"/>
              </a:ext>
            </a:extLst>
          </p:cNvPr>
          <p:cNvSpPr/>
          <p:nvPr/>
        </p:nvSpPr>
        <p:spPr>
          <a:xfrm>
            <a:off x="5073041" y="2570084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1400" dirty="0"/>
          </a:p>
        </p:txBody>
      </p:sp>
      <p:sp>
        <p:nvSpPr>
          <p:cNvPr id="51" name="Text 35">
            <a:extLst>
              <a:ext uri="{FF2B5EF4-FFF2-40B4-BE49-F238E27FC236}">
                <a16:creationId xmlns:a16="http://schemas.microsoft.com/office/drawing/2014/main" id="{FB4FBFCE-BC86-4413-B67F-32B1D058E591}"/>
              </a:ext>
            </a:extLst>
          </p:cNvPr>
          <p:cNvSpPr/>
          <p:nvPr/>
        </p:nvSpPr>
        <p:spPr>
          <a:xfrm>
            <a:off x="5111536" y="1562070"/>
            <a:ext cx="1381116" cy="313419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4" name="Text 35">
            <a:extLst>
              <a:ext uri="{FF2B5EF4-FFF2-40B4-BE49-F238E27FC236}">
                <a16:creationId xmlns:a16="http://schemas.microsoft.com/office/drawing/2014/main" id="{73BDC7DB-C2B2-4569-9DF6-FF25595243CE}"/>
              </a:ext>
            </a:extLst>
          </p:cNvPr>
          <p:cNvSpPr/>
          <p:nvPr/>
        </p:nvSpPr>
        <p:spPr>
          <a:xfrm>
            <a:off x="5073041" y="2103413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</a:t>
            </a:r>
            <a:endParaRPr lang="en-US" sz="1400" dirty="0"/>
          </a:p>
        </p:txBody>
      </p:sp>
      <p:sp>
        <p:nvSpPr>
          <p:cNvPr id="56" name="Text 35">
            <a:extLst>
              <a:ext uri="{FF2B5EF4-FFF2-40B4-BE49-F238E27FC236}">
                <a16:creationId xmlns:a16="http://schemas.microsoft.com/office/drawing/2014/main" id="{9EFBAED4-9AAA-4ADF-906F-E38B254A5ECC}"/>
              </a:ext>
            </a:extLst>
          </p:cNvPr>
          <p:cNvSpPr/>
          <p:nvPr/>
        </p:nvSpPr>
        <p:spPr>
          <a:xfrm>
            <a:off x="5091079" y="3142039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400" dirty="0"/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DFA3FB5A-8BD4-434E-ACC2-6BB7388DBCAE}"/>
              </a:ext>
            </a:extLst>
          </p:cNvPr>
          <p:cNvSpPr/>
          <p:nvPr/>
        </p:nvSpPr>
        <p:spPr>
          <a:xfrm>
            <a:off x="5086739" y="3672044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400" dirty="0"/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12073EF4-C3BE-4C8F-8E3C-3BA181311C33}"/>
              </a:ext>
            </a:extLst>
          </p:cNvPr>
          <p:cNvSpPr/>
          <p:nvPr/>
        </p:nvSpPr>
        <p:spPr>
          <a:xfrm>
            <a:off x="5086645" y="4219180"/>
            <a:ext cx="1381116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</a:t>
            </a:r>
            <a:endParaRPr lang="en-US" sz="1400" dirty="0"/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3158C228-CBD5-4857-B76A-5FE4471035E4}"/>
              </a:ext>
            </a:extLst>
          </p:cNvPr>
          <p:cNvSpPr/>
          <p:nvPr/>
        </p:nvSpPr>
        <p:spPr>
          <a:xfrm>
            <a:off x="7007271" y="2097654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manager &amp; Sector Heads</a:t>
            </a:r>
            <a:endParaRPr lang="en-US" sz="1400" dirty="0"/>
          </a:p>
        </p:txBody>
      </p:sp>
      <p:sp>
        <p:nvSpPr>
          <p:cNvPr id="67" name="Text 16">
            <a:extLst>
              <a:ext uri="{FF2B5EF4-FFF2-40B4-BE49-F238E27FC236}">
                <a16:creationId xmlns:a16="http://schemas.microsoft.com/office/drawing/2014/main" id="{A7FD0C89-A05F-490C-B4A5-0EAC2F4D5BF3}"/>
              </a:ext>
            </a:extLst>
          </p:cNvPr>
          <p:cNvSpPr/>
          <p:nvPr/>
        </p:nvSpPr>
        <p:spPr>
          <a:xfrm>
            <a:off x="7007271" y="2589822"/>
            <a:ext cx="3390903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manager &amp; Sector Heads</a:t>
            </a:r>
            <a:endParaRPr lang="en-US" sz="1400" dirty="0"/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FF6883BB-3834-40F0-A572-02093F478A04}"/>
              </a:ext>
            </a:extLst>
          </p:cNvPr>
          <p:cNvSpPr/>
          <p:nvPr/>
        </p:nvSpPr>
        <p:spPr>
          <a:xfrm>
            <a:off x="7014782" y="3162781"/>
            <a:ext cx="2637534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manager &amp; Sector Heads</a:t>
            </a:r>
            <a:endParaRPr lang="en-US" sz="1400" dirty="0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C9E9A298-7601-4DC7-967C-1888D5029751}"/>
              </a:ext>
            </a:extLst>
          </p:cNvPr>
          <p:cNvSpPr/>
          <p:nvPr/>
        </p:nvSpPr>
        <p:spPr>
          <a:xfrm>
            <a:off x="6982679" y="4209107"/>
            <a:ext cx="2762259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manager &amp; Sector Heads</a:t>
            </a:r>
            <a:endParaRPr lang="en-US" sz="1400" dirty="0"/>
          </a:p>
        </p:txBody>
      </p:sp>
      <p:sp>
        <p:nvSpPr>
          <p:cNvPr id="73" name="Text 16">
            <a:extLst>
              <a:ext uri="{FF2B5EF4-FFF2-40B4-BE49-F238E27FC236}">
                <a16:creationId xmlns:a16="http://schemas.microsoft.com/office/drawing/2014/main" id="{50E3F0D6-D6D8-4F2D-90E6-C2741B80EA4C}"/>
              </a:ext>
            </a:extLst>
          </p:cNvPr>
          <p:cNvSpPr/>
          <p:nvPr/>
        </p:nvSpPr>
        <p:spPr>
          <a:xfrm>
            <a:off x="7007271" y="3654949"/>
            <a:ext cx="3349582" cy="344197"/>
          </a:xfrm>
          <a:prstGeom prst="rect">
            <a:avLst/>
          </a:prstGeom>
          <a:noFill/>
          <a:ln/>
        </p:spPr>
        <p:txBody>
          <a:bodyPr wrap="square" lIns="127508" tIns="1275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manager &amp; Sector Heads</a:t>
            </a:r>
            <a:endParaRPr lang="en-US" sz="1400" dirty="0"/>
          </a:p>
        </p:txBody>
      </p:sp>
      <p:sp>
        <p:nvSpPr>
          <p:cNvPr id="80" name="Text 28">
            <a:extLst>
              <a:ext uri="{FF2B5EF4-FFF2-40B4-BE49-F238E27FC236}">
                <a16:creationId xmlns:a16="http://schemas.microsoft.com/office/drawing/2014/main" id="{39FAAD94-DFC8-4C89-9E6D-0B2BA4FAB1BC}"/>
              </a:ext>
            </a:extLst>
          </p:cNvPr>
          <p:cNvSpPr/>
          <p:nvPr/>
        </p:nvSpPr>
        <p:spPr>
          <a:xfrm>
            <a:off x="10907663" y="2211523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74" name="Shape 37">
            <a:extLst>
              <a:ext uri="{FF2B5EF4-FFF2-40B4-BE49-F238E27FC236}">
                <a16:creationId xmlns:a16="http://schemas.microsoft.com/office/drawing/2014/main" id="{A69A5148-1409-4592-BFED-56859EA79AE0}"/>
              </a:ext>
            </a:extLst>
          </p:cNvPr>
          <p:cNvSpPr/>
          <p:nvPr/>
        </p:nvSpPr>
        <p:spPr>
          <a:xfrm>
            <a:off x="10136772" y="1706267"/>
            <a:ext cx="940947" cy="281396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28">
            <a:extLst>
              <a:ext uri="{FF2B5EF4-FFF2-40B4-BE49-F238E27FC236}">
                <a16:creationId xmlns:a16="http://schemas.microsoft.com/office/drawing/2014/main" id="{D3904D06-6EEF-4EF2-B17A-39982D878A61}"/>
              </a:ext>
            </a:extLst>
          </p:cNvPr>
          <p:cNvSpPr/>
          <p:nvPr/>
        </p:nvSpPr>
        <p:spPr>
          <a:xfrm>
            <a:off x="10213302" y="1715051"/>
            <a:ext cx="111441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</a:t>
            </a:r>
            <a:endParaRPr lang="en-US" sz="1400" dirty="0"/>
          </a:p>
        </p:txBody>
      </p:sp>
      <p:sp>
        <p:nvSpPr>
          <p:cNvPr id="76" name="Shape 42">
            <a:extLst>
              <a:ext uri="{FF2B5EF4-FFF2-40B4-BE49-F238E27FC236}">
                <a16:creationId xmlns:a16="http://schemas.microsoft.com/office/drawing/2014/main" id="{33097986-AA56-402B-ACDB-B0848D3568ED}"/>
              </a:ext>
            </a:extLst>
          </p:cNvPr>
          <p:cNvSpPr/>
          <p:nvPr/>
        </p:nvSpPr>
        <p:spPr>
          <a:xfrm>
            <a:off x="10200619" y="2217187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43">
            <a:extLst>
              <a:ext uri="{FF2B5EF4-FFF2-40B4-BE49-F238E27FC236}">
                <a16:creationId xmlns:a16="http://schemas.microsoft.com/office/drawing/2014/main" id="{67A87155-D560-4863-9D20-B6E936F18F4D}"/>
              </a:ext>
            </a:extLst>
          </p:cNvPr>
          <p:cNvSpPr/>
          <p:nvPr/>
        </p:nvSpPr>
        <p:spPr>
          <a:xfrm>
            <a:off x="10155040" y="2236644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78" name="Shape 42">
            <a:extLst>
              <a:ext uri="{FF2B5EF4-FFF2-40B4-BE49-F238E27FC236}">
                <a16:creationId xmlns:a16="http://schemas.microsoft.com/office/drawing/2014/main" id="{3303086B-C37B-4086-B076-4E7940899661}"/>
              </a:ext>
            </a:extLst>
          </p:cNvPr>
          <p:cNvSpPr/>
          <p:nvPr/>
        </p:nvSpPr>
        <p:spPr>
          <a:xfrm>
            <a:off x="10200619" y="2741194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43">
            <a:extLst>
              <a:ext uri="{FF2B5EF4-FFF2-40B4-BE49-F238E27FC236}">
                <a16:creationId xmlns:a16="http://schemas.microsoft.com/office/drawing/2014/main" id="{550A085C-3863-4C75-859B-34DBFA7192D2}"/>
              </a:ext>
            </a:extLst>
          </p:cNvPr>
          <p:cNvSpPr/>
          <p:nvPr/>
        </p:nvSpPr>
        <p:spPr>
          <a:xfrm>
            <a:off x="10155040" y="2760651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85" name="Shape 42">
            <a:extLst>
              <a:ext uri="{FF2B5EF4-FFF2-40B4-BE49-F238E27FC236}">
                <a16:creationId xmlns:a16="http://schemas.microsoft.com/office/drawing/2014/main" id="{18089622-B58E-4876-AA7D-2D2D45F40560}"/>
              </a:ext>
            </a:extLst>
          </p:cNvPr>
          <p:cNvSpPr/>
          <p:nvPr/>
        </p:nvSpPr>
        <p:spPr>
          <a:xfrm>
            <a:off x="10200619" y="3265201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43">
            <a:extLst>
              <a:ext uri="{FF2B5EF4-FFF2-40B4-BE49-F238E27FC236}">
                <a16:creationId xmlns:a16="http://schemas.microsoft.com/office/drawing/2014/main" id="{B741F0BE-AEE6-4935-B96F-ACDCA2940DEA}"/>
              </a:ext>
            </a:extLst>
          </p:cNvPr>
          <p:cNvSpPr/>
          <p:nvPr/>
        </p:nvSpPr>
        <p:spPr>
          <a:xfrm>
            <a:off x="10155040" y="3284658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87" name="Shape 42">
            <a:extLst>
              <a:ext uri="{FF2B5EF4-FFF2-40B4-BE49-F238E27FC236}">
                <a16:creationId xmlns:a16="http://schemas.microsoft.com/office/drawing/2014/main" id="{C27A59DA-2E5B-4A74-AEA3-DB2C1400F8E2}"/>
              </a:ext>
            </a:extLst>
          </p:cNvPr>
          <p:cNvSpPr/>
          <p:nvPr/>
        </p:nvSpPr>
        <p:spPr>
          <a:xfrm>
            <a:off x="10182351" y="3823262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43">
            <a:extLst>
              <a:ext uri="{FF2B5EF4-FFF2-40B4-BE49-F238E27FC236}">
                <a16:creationId xmlns:a16="http://schemas.microsoft.com/office/drawing/2014/main" id="{95C12C44-C868-4847-AD8C-9C55CD88F5C5}"/>
              </a:ext>
            </a:extLst>
          </p:cNvPr>
          <p:cNvSpPr/>
          <p:nvPr/>
        </p:nvSpPr>
        <p:spPr>
          <a:xfrm>
            <a:off x="10136772" y="3842719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  <p:sp>
        <p:nvSpPr>
          <p:cNvPr id="89" name="Shape 42">
            <a:extLst>
              <a:ext uri="{FF2B5EF4-FFF2-40B4-BE49-F238E27FC236}">
                <a16:creationId xmlns:a16="http://schemas.microsoft.com/office/drawing/2014/main" id="{CADD722D-A465-4D74-9E42-E4C694B53F20}"/>
              </a:ext>
            </a:extLst>
          </p:cNvPr>
          <p:cNvSpPr/>
          <p:nvPr/>
        </p:nvSpPr>
        <p:spPr>
          <a:xfrm>
            <a:off x="10158444" y="4357953"/>
            <a:ext cx="940946" cy="275652"/>
          </a:xfrm>
          <a:prstGeom prst="rect">
            <a:avLst/>
          </a:prstGeom>
          <a:solidFill>
            <a:srgbClr val="5BC0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43">
            <a:extLst>
              <a:ext uri="{FF2B5EF4-FFF2-40B4-BE49-F238E27FC236}">
                <a16:creationId xmlns:a16="http://schemas.microsoft.com/office/drawing/2014/main" id="{1DCA8E0A-5F2F-4C79-8079-43C365712917}"/>
              </a:ext>
            </a:extLst>
          </p:cNvPr>
          <p:cNvSpPr/>
          <p:nvPr/>
        </p:nvSpPr>
        <p:spPr>
          <a:xfrm>
            <a:off x="10112865" y="4377410"/>
            <a:ext cx="1589596" cy="284180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15451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E4DCF-FEDA-B9B1-AF32-2BD66549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4DB0F2-FB38-7BAD-7FE2-1C6DF656B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216" y="3003207"/>
            <a:ext cx="3509567" cy="42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02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22d98fe-d4f1-440d-8d90-8d79a977e770}" enabled="1" method="Privileged" siteId="{58191332-4582-42f1-a685-f77f77def70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10401</TotalTime>
  <Words>1464</Words>
  <Application>Microsoft Office PowerPoint</Application>
  <PresentationFormat>Widescreen</PresentationFormat>
  <Paragraphs>317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Georgia</vt:lpstr>
      <vt:lpstr>Impact</vt:lpstr>
      <vt:lpstr>Inter</vt:lpstr>
      <vt:lpstr>Segoe UI</vt:lpstr>
      <vt:lpstr>Office Theme</vt:lpstr>
      <vt:lpstr>Finance Function &amp; Business Performance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Hossam Edris</dc:creator>
  <cp:lastModifiedBy>Hussien Abo Elazaim</cp:lastModifiedBy>
  <cp:revision>370</cp:revision>
  <dcterms:created xsi:type="dcterms:W3CDTF">2024-12-29T14:33:19Z</dcterms:created>
  <dcterms:modified xsi:type="dcterms:W3CDTF">2026-05-14T20:05:20Z</dcterms:modified>
</cp:coreProperties>
</file>